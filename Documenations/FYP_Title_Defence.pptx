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6" r:id="rId17"/>
    <p:sldId id="267" r:id="rId18"/>
    <p:sldId id="268" r:id="rId19"/>
    <p:sldId id="269" r:id="rId20"/>
    <p:sldId id="258" r:id="rId4"/>
    <p:sldId id="259" r:id="rId5"/>
    <p:sldId id="260" r:id="rId6"/>
    <p:sldId id="270" r:id="rId21"/>
    <p:sldId id="261" r:id="rId7"/>
    <p:sldId id="262" r:id="rId8"/>
    <p:sldId id="263" r:id="rId9"/>
    <p:sldId id="264" r:id="rId10"/>
    <p:sldId id="271" r:id="rId22"/>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Abdur (opening for both)
Approximate speaking time: 15 seconds
Exact script:
"Good morning. My name is Abdur Rehman, and together with my partner Mustafa Avais, we'll be presenting our Senior Design Project title defence: an AI-Based Burn Severity Assessment and Recovery Monitoring System, supervised by Dr. Asad Mehmood and Dr. Hanif."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Abdur
Approximate speaking time: 50 seconds
Exact script:
"Burn injuries are a genuine clinical challenge — not because doctors lack skill, but because visual assessment of burn depth is inherently subjective. Published clinical literature reports that even expert burn surgeons are only sixty to eighty percent accurate when assessing burn depth by eye, and non-specialists — who are often the first point of contact — are closer to sixty percent for depth and just fifty-one percent for estimating the affected area. In resource-constrained regions like Khyber Pakhtunkhwa, where specialized burn expertise isn't always available, this inconsistency directly affects treatment decisions — whether a wound needs surgical grafting or will heal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Abdur
Approximate speaking time: 55 seconds
Exact script:
"Looking at the existing research, we found a consistent pattern of fragmentation. Several studies use CNN architectures — ResNet, VGG, EfficientNet — to classify burn images, but they stop at classification and don't localize the affected region. Segmentation models like U-Net perform well at isolating burn boundaries, but are rarely integrated with severity scoring. Vision-Language Models have shown promise generating clinical-style descriptions from medical images, but their application specifically to burn assessment remains minimal. And critically, almost no existing system tracks healing progression over time in an automated way. Each piece exists somewhere in the literature — but never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Abdur (hands off to Mustafa at the end)
Approximate speaking time: 35 seconds
Exact script:
"So our proposed system brings these pieces together into a single multi-task framework: classifying burn type, segmenting the affected region, estimating severity, and monitoring recovery over time — all tied together by a Vision-Language Model that generates structured, clinical-style reports. I'll hand over to Mustafa to walk through how the system is actually structured."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Mustafa
Approximate speaking time: 60 seconds
Exact script:
"At a high level, the system takes a burn image as input and pushes it through a multi-task deep learning pipeline. First, a classification stage identifies the burn type — first, second, or third degree. In parallel, a segmentation stage localizes and highlights the most severely affected region within the image. These outputs feed into a severity estimation stage that scores the burn based on visual characteristics such as color, texture, and affected area. Separately, when sequential images of the same wound are available, a longitudinal analysis module compares them over time to quantify healing progression. All of these outputs are then passed to a Vision-Language Model, which converts the visual and quantitative findings into a structured, clinical-style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Mustafa
Approximate speaking time: 55 seconds
Exact script:
"For classification, we're building on CNN-based architectures from the ResNet and EfficientNet family, which the literature consistently shows perform well extracting visual features from skin and wound images. For segmentation, we're using encoder-decoder architectures in the U-Net family — the standard choice for biomedical image segmentation, because they preserve both spatial detail and contextual information. The severity estimation stage then operates specifically on the segmented region, scoring it against visual characteristics rather than treating the whole image uniformly — this directly addresses one of the gaps we identified, where severity scoring and segmentation are usually handled as separate, disconnected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Mustafa
Approximate speaking time: 40 seconds
Exact script:
"To make the system's outputs usable by a clinician, we integrate a Vision-Language Model, in the BLIP family, that converts the classification, segmentation, and severity outputs into a structured natural-language description — not just numbers, but an actual clinical-style summary. This feeds directly into an automated report that includes the severity score, the affected area measurement, and the recovery trend where longitudinal data is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Abdur
Approximate speaking time: 50 seconds
Exact script:
"This part of the system is my primary responsibility. Rather than treating each image in isolation, we compare sequential images of the same wound — captured after treatment or medication — to quantify how it's changing over time. That means tracking changes in the segmented burn area and visual healing indicators across the image sequence, giving clinicians a quantitative trend rather than relying on memory or subjective comparison between visits. This is the piece most existing systems in the literature don't do at all, and it's central to what makes this a monitoring system, not just a one-time diagnostic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Mustafa
Approximate speaking time: 40 seconds
Exact script:
"It's important to be clear about scope. This is a prototype-level system, built and evaluated on pre-collected or publicly available datasets, focused entirely on image-based analysis. It does not include real-time clinical deployment, integration with hospital systems, or regulatory medical-device validation — those are explicitly outside what a project of this scale can responsibly claim. Our goal is to demonstrate technical feasibility: that this multi-task pipeline can work end-to-end and meaningfully outperform fragmented, single-task approaches."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Abdur, then Mustafa (closing together)
Approximate speaking time: 40 seconds total (20s each)
Exact script:
Abdur: "In summary, this project brings together classification, segmentation, severity estimation, and longitudinal recovery monitoring into one integrated, VLM-reported platform — addressing gaps that individually already exist in the literature, but have never been combined."
Mustafa: "We believe this kind of integrated, data-driven approach has real value for resource-constrained healthcare settings like ours, and we're excited to develop it further. Thank you — we're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45"/>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065A82">
              <a:alpha val="45000"/>
            </a:srgbClr>
          </a:solidFill>
          <a:ln/>
        </p:spPr>
      </p:sp>
      <p:sp>
        <p:nvSpPr>
          <p:cNvPr id="3" name="Shape 1"/>
          <p:cNvSpPr/>
          <p:nvPr/>
        </p:nvSpPr>
        <p:spPr>
          <a:xfrm>
            <a:off x="-1645920" y="4754880"/>
            <a:ext cx="3657600" cy="3657600"/>
          </a:xfrm>
          <a:prstGeom prst="ellipse">
            <a:avLst/>
          </a:prstGeom>
          <a:solidFill>
            <a:srgbClr val="1C7293">
              <a:alpha val="40000"/>
            </a:srgbClr>
          </a:solidFill>
          <a:ln/>
        </p:spPr>
      </p:sp>
      <p:sp>
        <p:nvSpPr>
          <p:cNvPr id="4" name="Text 2"/>
          <p:cNvSpPr txBox="1"/>
          <p:nvPr/>
        </p:nvSpPr>
        <p:spPr>
          <a:xfrm>
            <a:off x="822960" y="1417320"/>
            <a:ext cx="10515600" cy="365760"/>
          </a:xfrm>
          <a:prstGeom prst="rect">
            <a:avLst/>
          </a:prstGeom>
          <a:noFill/>
          <a:ln/>
        </p:spPr>
        <p:txBody>
          <a:bodyPr wrap="square" lIns="0" tIns="0" rIns="0" bIns="0" rtlCol="0" anchor="ctr"/>
          <a:lstStyle/>
          <a:p>
            <a:pPr indent="0" marL="0">
              <a:buNone/>
            </a:pPr>
            <a:r>
              <a:rPr lang="en-US" sz="1400" spc="200" kern="0" dirty="0">
                <a:solidFill>
                  <a:srgbClr val="9FC6DA"/>
                </a:solidFill>
                <a:latin typeface="Calibri" pitchFamily="34" charset="0"/>
                <a:ea typeface="Calibri" pitchFamily="34" charset="-122"/>
                <a:cs typeface="Calibri" pitchFamily="34" charset="-120"/>
              </a:rPr>
              <a:t>SENIOR DESIGN PROJECT  —  TITLE DEFENCE</a:t>
            </a:r>
            <a:endParaRPr lang="en-US" sz="1400" dirty="0"/>
          </a:p>
        </p:txBody>
      </p:sp>
      <p:sp>
        <p:nvSpPr>
          <p:cNvPr id="5" name="Text 3"/>
          <p:cNvSpPr txBox="1"/>
          <p:nvPr/>
        </p:nvSpPr>
        <p:spPr>
          <a:xfrm>
            <a:off x="822960" y="1874520"/>
            <a:ext cx="10515600" cy="1737360"/>
          </a:xfrm>
          <a:prstGeom prst="rect">
            <a:avLst/>
          </a:prstGeom>
          <a:noFill/>
          <a:ln/>
        </p:spPr>
        <p:txBody>
          <a:bodyPr wrap="square" lIns="0" tIns="0" rIns="0" bIns="0" rtlCol="0" anchor="ctr"/>
          <a:lstStyle/>
          <a:p>
            <a:pPr indent="0" marL="0">
              <a:lnSpc>
                <a:spcPct val="108000"/>
              </a:lnSpc>
              <a:buNone/>
            </a:pPr>
            <a:r>
              <a:rPr lang="en-US" sz="3800" b="1" dirty="0">
                <a:solidFill>
                  <a:srgbClr val="FFFFFF"/>
                </a:solidFill>
                <a:latin typeface="Cambria" pitchFamily="34" charset="0"/>
                <a:ea typeface="Cambria" pitchFamily="34" charset="-122"/>
                <a:cs typeface="Cambria" pitchFamily="34" charset="-120"/>
              </a:rPr>
              <a:t>AI-Based Burn Severity Assessment</a:t>
            </a:r>
            <a:endParaRPr lang="en-US" sz="3800" dirty="0"/>
          </a:p>
          <a:p>
            <a:pPr indent="0" marL="0">
              <a:lnSpc>
                <a:spcPct val="108000"/>
              </a:lnSpc>
              <a:buNone/>
            </a:pPr>
            <a:r>
              <a:rPr lang="en-US" sz="3800" b="1" dirty="0">
                <a:solidFill>
                  <a:srgbClr val="FFFFFF"/>
                </a:solidFill>
                <a:latin typeface="Cambria" pitchFamily="34" charset="0"/>
                <a:ea typeface="Cambria" pitchFamily="34" charset="-122"/>
                <a:cs typeface="Cambria" pitchFamily="34" charset="-120"/>
              </a:rPr>
              <a:t>&amp; Recovery Monitoring System</a:t>
            </a:r>
            <a:endParaRPr lang="en-US" sz="3800" dirty="0"/>
          </a:p>
        </p:txBody>
      </p:sp>
      <p:sp>
        <p:nvSpPr>
          <p:cNvPr id="6" name="Shape 4"/>
          <p:cNvSpPr/>
          <p:nvPr/>
        </p:nvSpPr>
        <p:spPr>
          <a:xfrm>
            <a:off x="868680" y="3703320"/>
            <a:ext cx="2926080" cy="0"/>
          </a:xfrm>
          <a:prstGeom prst="line">
            <a:avLst/>
          </a:prstGeom>
          <a:noFill/>
          <a:ln w="38100">
            <a:solidFill>
              <a:srgbClr val="E8871E"/>
            </a:solidFill>
            <a:prstDash val="solid"/>
          </a:ln>
        </p:spPr>
      </p:sp>
      <p:sp>
        <p:nvSpPr>
          <p:cNvPr id="7" name="Text 5"/>
          <p:cNvSpPr txBox="1"/>
          <p:nvPr/>
        </p:nvSpPr>
        <p:spPr>
          <a:xfrm>
            <a:off x="822960" y="3977640"/>
            <a:ext cx="7315200" cy="1737360"/>
          </a:xfrm>
          <a:prstGeom prst="rect">
            <a:avLst/>
          </a:prstGeom>
          <a:noFill/>
          <a:ln/>
        </p:spPr>
        <p:txBody>
          <a:bodyPr wrap="square" lIns="0" tIns="0" rIns="0" bIns="0" rtlCol="0" anchor="ctr"/>
          <a:lstStyle/>
          <a:p>
            <a:pPr indent="0" marL="0">
              <a:lnSpc>
                <a:spcPct val="125000"/>
              </a:lnSpc>
              <a:buNone/>
            </a:pPr>
            <a:r>
              <a:rPr lang="en-US" sz="1500" b="1" dirty="0">
                <a:solidFill>
                  <a:srgbClr val="D7E9F2"/>
                </a:solidFill>
                <a:latin typeface="Calibri" pitchFamily="34" charset="0"/>
                <a:ea typeface="Calibri" pitchFamily="34" charset="-122"/>
                <a:cs typeface="Calibri" pitchFamily="34" charset="-120"/>
              </a:rPr>
              <a:t>Abdur Rehman  (2023054)
</a:t>
            </a:r>
            <a:pPr indent="0" marL="0">
              <a:lnSpc>
                <a:spcPct val="125000"/>
              </a:lnSpc>
              <a:buNone/>
            </a:pPr>
            <a:r>
              <a:rPr lang="en-US" sz="1500" b="1" dirty="0">
                <a:solidFill>
                  <a:srgbClr val="D7E9F2"/>
                </a:solidFill>
                <a:latin typeface="Calibri" pitchFamily="34" charset="0"/>
                <a:ea typeface="Calibri" pitchFamily="34" charset="-122"/>
                <a:cs typeface="Calibri" pitchFamily="34" charset="-120"/>
              </a:rPr>
              <a:t>Mustafa Avais  (2023564)
</a:t>
            </a:r>
            <a:pPr indent="0" marL="0">
              <a:lnSpc>
                <a:spcPct val="125000"/>
              </a:lnSpc>
              <a:buNone/>
            </a:pPr>
            <a:r>
              <a:rPr lang="en-US" sz="1500" dirty="0">
                <a:solidFill>
                  <a:srgbClr val="D7E9F2"/>
                </a:solidFill>
                <a:latin typeface="Calibri" pitchFamily="34" charset="0"/>
                <a:ea typeface="Calibri" pitchFamily="34" charset="-122"/>
                <a:cs typeface="Calibri" pitchFamily="34" charset="-120"/>
              </a:rPr>
              <a:t>Supervisor: Dr. Asad Mehmood   |   Co-Supervisor: Dr. Hanif
</a:t>
            </a:r>
            <a:pPr indent="0" marL="0">
              <a:lnSpc>
                <a:spcPct val="125000"/>
              </a:lnSpc>
              <a:buNone/>
            </a:pPr>
            <a:r>
              <a:rPr lang="en-US" sz="1500" dirty="0">
                <a:solidFill>
                  <a:srgbClr val="D7E9F2"/>
                </a:solidFill>
                <a:latin typeface="Calibri" pitchFamily="34" charset="0"/>
                <a:ea typeface="Calibri" pitchFamily="34" charset="-122"/>
                <a:cs typeface="Calibri" pitchFamily="34" charset="-120"/>
              </a:rPr>
              <a:t>Faculty of Computer Science &amp; Engineering, GIKI</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E8871E"/>
          </a:solidFill>
          <a:ln/>
        </p:spPr>
      </p:sp>
      <p:sp>
        <p:nvSpPr>
          <p:cNvPr id="3" name="Text 1"/>
          <p:cNvSpPr txBox="1"/>
          <p:nvPr/>
        </p:nvSpPr>
        <p:spPr>
          <a:xfrm>
            <a:off x="457200" y="41148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a:t>
            </a:r>
            <a:endParaRPr lang="en-US" sz="2000" dirty="0"/>
          </a:p>
        </p:txBody>
      </p:sp>
      <p:sp>
        <p:nvSpPr>
          <p:cNvPr id="4" name="Text 2"/>
          <p:cNvSpPr txBox="1"/>
          <p:nvPr/>
        </p:nvSpPr>
        <p:spPr>
          <a:xfrm>
            <a:off x="1051560" y="347472"/>
            <a:ext cx="10241280" cy="594360"/>
          </a:xfrm>
          <a:prstGeom prst="rect">
            <a:avLst/>
          </a:prstGeom>
          <a:noFill/>
          <a:ln/>
        </p:spPr>
        <p:txBody>
          <a:bodyPr wrap="square" lIns="0" tIns="0" rIns="0" bIns="0" rtlCol="0" anchor="ctr"/>
          <a:lstStyle/>
          <a:p>
            <a:pPr indent="0" marL="0">
              <a:buNone/>
            </a:pPr>
            <a:r>
              <a:rPr lang="en-US" sz="2800" b="1" dirty="0">
                <a:solidFill>
                  <a:srgbClr val="1A2733"/>
                </a:solidFill>
                <a:latin typeface="Cambria" pitchFamily="34" charset="0"/>
                <a:ea typeface="Cambria" pitchFamily="34" charset="-122"/>
                <a:cs typeface="Cambria" pitchFamily="34" charset="-120"/>
              </a:rPr>
              <a:t>The Problem</a:t>
            </a:r>
            <a:endParaRPr lang="en-US" sz="2800" dirty="0"/>
          </a:p>
        </p:txBody>
      </p:sp>
      <p:sp>
        <p:nvSpPr>
          <p:cNvPr id="5" name="Shape 3"/>
          <p:cNvSpPr/>
          <p:nvPr/>
        </p:nvSpPr>
        <p:spPr>
          <a:xfrm>
            <a:off x="548640" y="1417320"/>
            <a:ext cx="3657600" cy="4480560"/>
          </a:xfrm>
          <a:prstGeom prst="roundRect">
            <a:avLst>
              <a:gd name="adj" fmla="val 3000"/>
            </a:avLst>
          </a:prstGeom>
          <a:solidFill>
            <a:srgbClr val="FFFFFF"/>
          </a:solidFill>
          <a:ln w="12700">
            <a:solidFill>
              <a:srgbClr val="DCE7EC"/>
            </a:solidFill>
            <a:prstDash val="solid"/>
          </a:ln>
          <a:effectLst>
            <a:outerShdw sx="100000" sy="100000" kx="0" ky="0" algn="bl" rotWithShape="0" blurRad="76200" dist="25400" dir="5400000">
              <a:srgbClr val="1A2733">
                <a:alpha val="18000"/>
              </a:srgbClr>
            </a:outerShdw>
          </a:effectLst>
        </p:spPr>
      </p:sp>
      <p:sp>
        <p:nvSpPr>
          <p:cNvPr id="6" name="Text 4"/>
          <p:cNvSpPr txBox="1"/>
          <p:nvPr/>
        </p:nvSpPr>
        <p:spPr>
          <a:xfrm>
            <a:off x="548640" y="1874520"/>
            <a:ext cx="3657600" cy="1005840"/>
          </a:xfrm>
          <a:prstGeom prst="rect">
            <a:avLst/>
          </a:prstGeom>
          <a:noFill/>
          <a:ln/>
        </p:spPr>
        <p:txBody>
          <a:bodyPr wrap="square" lIns="0" tIns="0" rIns="0" bIns="0" rtlCol="0" anchor="ctr"/>
          <a:lstStyle/>
          <a:p>
            <a:pPr algn="ctr" indent="0" marL="0">
              <a:buNone/>
            </a:pPr>
            <a:r>
              <a:rPr lang="en-US" sz="5000" b="1" dirty="0">
                <a:solidFill>
                  <a:srgbClr val="E8871E"/>
                </a:solidFill>
                <a:latin typeface="Cambria" pitchFamily="34" charset="0"/>
                <a:ea typeface="Cambria" pitchFamily="34" charset="-122"/>
                <a:cs typeface="Cambria" pitchFamily="34" charset="-120"/>
              </a:rPr>
              <a:t>60–80%</a:t>
            </a:r>
            <a:endParaRPr lang="en-US" sz="5000" dirty="0"/>
          </a:p>
        </p:txBody>
      </p:sp>
      <p:sp>
        <p:nvSpPr>
          <p:cNvPr id="7" name="Text 5"/>
          <p:cNvSpPr txBox="1"/>
          <p:nvPr/>
        </p:nvSpPr>
        <p:spPr>
          <a:xfrm>
            <a:off x="822960" y="2926080"/>
            <a:ext cx="3108960" cy="1280160"/>
          </a:xfrm>
          <a:prstGeom prst="rect">
            <a:avLst/>
          </a:prstGeom>
          <a:noFill/>
          <a:ln/>
        </p:spPr>
        <p:txBody>
          <a:bodyPr wrap="square" lIns="0" tIns="0" rIns="0" bIns="0" rtlCol="0" anchor="ctr"/>
          <a:lstStyle/>
          <a:p>
            <a:pPr algn="ctr" indent="0" marL="0">
              <a:lnSpc>
                <a:spcPct val="120000"/>
              </a:lnSpc>
              <a:buNone/>
            </a:pPr>
            <a:r>
              <a:rPr lang="en-US" sz="1350" dirty="0">
                <a:solidFill>
                  <a:srgbClr val="1A2733"/>
                </a:solidFill>
                <a:latin typeface="Calibri" pitchFamily="34" charset="0"/>
                <a:ea typeface="Calibri" pitchFamily="34" charset="-122"/>
                <a:cs typeface="Calibri" pitchFamily="34" charset="-120"/>
              </a:rPr>
              <a:t>accuracy of expert clinical</a:t>
            </a:r>
            <a:endParaRPr lang="en-US" sz="1350" dirty="0"/>
          </a:p>
          <a:p>
            <a:pPr algn="ctr" indent="0" marL="0">
              <a:lnSpc>
                <a:spcPct val="120000"/>
              </a:lnSpc>
              <a:buNone/>
            </a:pPr>
            <a:r>
              <a:rPr lang="en-US" sz="1350" dirty="0">
                <a:solidFill>
                  <a:srgbClr val="1A2733"/>
                </a:solidFill>
                <a:latin typeface="Calibri" pitchFamily="34" charset="0"/>
                <a:ea typeface="Calibri" pitchFamily="34" charset="-122"/>
                <a:cs typeface="Calibri" pitchFamily="34" charset="-120"/>
              </a:rPr>
              <a:t>judgment in burn-depth</a:t>
            </a:r>
            <a:endParaRPr lang="en-US" sz="1350" dirty="0"/>
          </a:p>
          <a:p>
            <a:pPr algn="ctr" indent="0" marL="0">
              <a:lnSpc>
                <a:spcPct val="120000"/>
              </a:lnSpc>
              <a:buNone/>
            </a:pPr>
            <a:r>
              <a:rPr lang="en-US" sz="1350" dirty="0">
                <a:solidFill>
                  <a:srgbClr val="1A2733"/>
                </a:solidFill>
                <a:latin typeface="Calibri" pitchFamily="34" charset="0"/>
                <a:ea typeface="Calibri" pitchFamily="34" charset="-122"/>
                <a:cs typeface="Calibri" pitchFamily="34" charset="-120"/>
              </a:rPr>
              <a:t>assessment by eye</a:t>
            </a:r>
            <a:endParaRPr lang="en-US" sz="1350" dirty="0"/>
          </a:p>
        </p:txBody>
      </p:sp>
      <p:sp>
        <p:nvSpPr>
          <p:cNvPr id="8" name="Shape 6"/>
          <p:cNvSpPr/>
          <p:nvPr/>
        </p:nvSpPr>
        <p:spPr>
          <a:xfrm>
            <a:off x="1005840" y="4251960"/>
            <a:ext cx="2560320" cy="0"/>
          </a:xfrm>
          <a:prstGeom prst="line">
            <a:avLst/>
          </a:prstGeom>
          <a:noFill/>
          <a:ln w="12700">
            <a:solidFill>
              <a:srgbClr val="DCE7EC"/>
            </a:solidFill>
            <a:prstDash val="solid"/>
          </a:ln>
        </p:spPr>
      </p:sp>
      <p:sp>
        <p:nvSpPr>
          <p:cNvPr id="9" name="Text 7"/>
          <p:cNvSpPr txBox="1"/>
          <p:nvPr/>
        </p:nvSpPr>
        <p:spPr>
          <a:xfrm>
            <a:off x="548640" y="4389120"/>
            <a:ext cx="3657600" cy="502920"/>
          </a:xfrm>
          <a:prstGeom prst="rect">
            <a:avLst/>
          </a:prstGeom>
          <a:noFill/>
          <a:ln/>
        </p:spPr>
        <p:txBody>
          <a:bodyPr wrap="square" lIns="0" tIns="0" rIns="0" bIns="0" rtlCol="0" anchor="ctr"/>
          <a:lstStyle/>
          <a:p>
            <a:pPr algn="ctr" indent="0" marL="0">
              <a:buNone/>
            </a:pPr>
            <a:r>
              <a:rPr lang="en-US" sz="2200" b="1" dirty="0">
                <a:solidFill>
                  <a:srgbClr val="065A82"/>
                </a:solidFill>
                <a:latin typeface="Cambria" pitchFamily="34" charset="0"/>
                <a:ea typeface="Cambria" pitchFamily="34" charset="-122"/>
                <a:cs typeface="Cambria" pitchFamily="34" charset="-120"/>
              </a:rPr>
              <a:t>~60% / ~51%</a:t>
            </a:r>
            <a:endParaRPr lang="en-US" sz="2200" dirty="0"/>
          </a:p>
        </p:txBody>
      </p:sp>
      <p:sp>
        <p:nvSpPr>
          <p:cNvPr id="10" name="Text 8"/>
          <p:cNvSpPr txBox="1"/>
          <p:nvPr/>
        </p:nvSpPr>
        <p:spPr>
          <a:xfrm>
            <a:off x="822960" y="4937760"/>
            <a:ext cx="3108960" cy="822960"/>
          </a:xfrm>
          <a:prstGeom prst="rect">
            <a:avLst/>
          </a:prstGeom>
          <a:noFill/>
          <a:ln/>
        </p:spPr>
        <p:txBody>
          <a:bodyPr wrap="square" lIns="0" tIns="0" rIns="0" bIns="0" rtlCol="0" anchor="ctr"/>
          <a:lstStyle/>
          <a:p>
            <a:pPr algn="ctr" indent="0" marL="0">
              <a:lnSpc>
                <a:spcPct val="120000"/>
              </a:lnSpc>
              <a:buNone/>
            </a:pPr>
            <a:r>
              <a:rPr lang="en-US" sz="1250" dirty="0">
                <a:solidFill>
                  <a:srgbClr val="5B7A8C"/>
                </a:solidFill>
                <a:latin typeface="Calibri" pitchFamily="34" charset="0"/>
                <a:ea typeface="Calibri" pitchFamily="34" charset="-122"/>
                <a:cs typeface="Calibri" pitchFamily="34" charset="-120"/>
              </a:rPr>
              <a:t>non-specialist accuracy for</a:t>
            </a:r>
            <a:endParaRPr lang="en-US" sz="1250" dirty="0"/>
          </a:p>
          <a:p>
            <a:pPr algn="ctr" indent="0" marL="0">
              <a:lnSpc>
                <a:spcPct val="120000"/>
              </a:lnSpc>
              <a:buNone/>
            </a:pPr>
            <a:r>
              <a:rPr lang="en-US" sz="1250" dirty="0">
                <a:solidFill>
                  <a:srgbClr val="5B7A8C"/>
                </a:solidFill>
                <a:latin typeface="Calibri" pitchFamily="34" charset="0"/>
                <a:ea typeface="Calibri" pitchFamily="34" charset="-122"/>
                <a:cs typeface="Calibri" pitchFamily="34" charset="-120"/>
              </a:rPr>
              <a:t>burn depth / size estimation</a:t>
            </a:r>
            <a:endParaRPr lang="en-US" sz="1250" dirty="0"/>
          </a:p>
        </p:txBody>
      </p:sp>
      <p:sp>
        <p:nvSpPr>
          <p:cNvPr id="11" name="Text 9"/>
          <p:cNvSpPr txBox="1"/>
          <p:nvPr/>
        </p:nvSpPr>
        <p:spPr>
          <a:xfrm>
            <a:off x="4617720" y="1920240"/>
            <a:ext cx="6949440" cy="3291840"/>
          </a:xfrm>
          <a:prstGeom prst="rect">
            <a:avLst/>
          </a:prstGeom>
          <a:noFill/>
          <a:ln/>
        </p:spPr>
        <p:txBody>
          <a:bodyPr wrap="square" lIns="0" tIns="0" rIns="0" bIns="0" rtlCol="0" anchor="t"/>
          <a:lstStyle/>
          <a:p>
            <a:pPr indent="0" marL="0">
              <a:lnSpc>
                <a:spcPct val="135000"/>
              </a:lnSpc>
              <a:buNone/>
            </a:pPr>
            <a:r>
              <a:rPr lang="en-US" sz="1700" dirty="0">
                <a:solidFill>
                  <a:srgbClr val="1A2733"/>
                </a:solidFill>
                <a:latin typeface="Calibri" pitchFamily="34" charset="0"/>
                <a:ea typeface="Calibri" pitchFamily="34" charset="-122"/>
                <a:cs typeface="Calibri" pitchFamily="34" charset="-120"/>
              </a:rPr>
              <a:t>Burn severity assessment today relies on </a:t>
            </a:r>
            <a:pPr indent="0" marL="0">
              <a:lnSpc>
                <a:spcPct val="135000"/>
              </a:lnSpc>
              <a:buNone/>
            </a:pPr>
            <a:r>
              <a:rPr lang="en-US" sz="1700" b="1" dirty="0">
                <a:solidFill>
                  <a:srgbClr val="065A82"/>
                </a:solidFill>
                <a:latin typeface="Calibri" pitchFamily="34" charset="0"/>
                <a:ea typeface="Calibri" pitchFamily="34" charset="-122"/>
                <a:cs typeface="Calibri" pitchFamily="34" charset="-120"/>
              </a:rPr>
              <a:t>subjective visual inspection</a:t>
            </a:r>
            <a:pPr indent="0" marL="0">
              <a:lnSpc>
                <a:spcPct val="135000"/>
              </a:lnSpc>
              <a:buNone/>
            </a:pPr>
            <a:r>
              <a:rPr lang="en-US" sz="1700" dirty="0">
                <a:solidFill>
                  <a:srgbClr val="1A2733"/>
                </a:solidFill>
                <a:latin typeface="Calibri" pitchFamily="34" charset="0"/>
                <a:ea typeface="Calibri" pitchFamily="34" charset="-122"/>
                <a:cs typeface="Calibri" pitchFamily="34" charset="-120"/>
              </a:rPr>
              <a:t> — inconsistent between practitioners and highly variable in early, treatment-critical days.
</a:t>
            </a:r>
            <a:pPr indent="0" marL="0">
              <a:lnSpc>
                <a:spcPct val="135000"/>
              </a:lnSpc>
              <a:buNone/>
            </a:pPr>
            <a:r>
              <a:rPr lang="en-US" sz="1700" dirty="0">
                <a:solidFill>
                  <a:srgbClr val="1A2733"/>
                </a:solidFill>
                <a:latin typeface="Calibri" pitchFamily="34" charset="0"/>
                <a:ea typeface="Calibri" pitchFamily="34" charset="-122"/>
                <a:cs typeface="Calibri" pitchFamily="34" charset="-120"/>
              </a:rPr>
              <a:t>This gap is sharper in resource-constrained regions such as Khyber Pakhtunkhwa, where specialized burn expertise is not always available at the point of first contact.</a:t>
            </a:r>
            <a:endParaRPr lang="en-US" sz="1700" dirty="0"/>
          </a:p>
        </p:txBody>
      </p:sp>
      <p:sp>
        <p:nvSpPr>
          <p:cNvPr id="12" name="Text 10"/>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5B7A8C"/>
                </a:solidFill>
                <a:latin typeface="Calibri" pitchFamily="34" charset="0"/>
                <a:ea typeface="Calibri" pitchFamily="34" charset="-122"/>
                <a:cs typeface="Calibri" pitchFamily="34" charset="-120"/>
              </a:rPr>
              <a:t>GIKI FCSE  |  Title Defence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65A82"/>
          </a:solidFill>
          <a:ln/>
        </p:spPr>
      </p:sp>
      <p:sp>
        <p:nvSpPr>
          <p:cNvPr id="3" name="Text 1"/>
          <p:cNvSpPr txBox="1"/>
          <p:nvPr/>
        </p:nvSpPr>
        <p:spPr>
          <a:xfrm>
            <a:off x="457200" y="41148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a:t>
            </a:r>
            <a:endParaRPr lang="en-US" sz="2000" dirty="0"/>
          </a:p>
        </p:txBody>
      </p:sp>
      <p:sp>
        <p:nvSpPr>
          <p:cNvPr id="4" name="Text 2"/>
          <p:cNvSpPr txBox="1"/>
          <p:nvPr/>
        </p:nvSpPr>
        <p:spPr>
          <a:xfrm>
            <a:off x="1051560" y="347472"/>
            <a:ext cx="10241280" cy="594360"/>
          </a:xfrm>
          <a:prstGeom prst="rect">
            <a:avLst/>
          </a:prstGeom>
          <a:noFill/>
          <a:ln/>
        </p:spPr>
        <p:txBody>
          <a:bodyPr wrap="square" lIns="0" tIns="0" rIns="0" bIns="0" rtlCol="0" anchor="ctr"/>
          <a:lstStyle/>
          <a:p>
            <a:pPr indent="0" marL="0">
              <a:buNone/>
            </a:pPr>
            <a:r>
              <a:rPr lang="en-US" sz="2800" b="1" dirty="0">
                <a:solidFill>
                  <a:srgbClr val="1A2733"/>
                </a:solidFill>
                <a:latin typeface="Cambria" pitchFamily="34" charset="0"/>
                <a:ea typeface="Cambria" pitchFamily="34" charset="-122"/>
                <a:cs typeface="Cambria" pitchFamily="34" charset="-120"/>
              </a:rPr>
              <a:t>What's Missing in Existing Work</a:t>
            </a:r>
            <a:endParaRPr lang="en-US" sz="2800" dirty="0"/>
          </a:p>
        </p:txBody>
      </p:sp>
      <p:sp>
        <p:nvSpPr>
          <p:cNvPr id="5" name="Shape 3"/>
          <p:cNvSpPr/>
          <p:nvPr/>
        </p:nvSpPr>
        <p:spPr>
          <a:xfrm>
            <a:off x="548640" y="1554480"/>
            <a:ext cx="5394960" cy="2148840"/>
          </a:xfrm>
          <a:prstGeom prst="roundRect">
            <a:avLst>
              <a:gd name="adj" fmla="val 4255"/>
            </a:avLst>
          </a:prstGeom>
          <a:solidFill>
            <a:srgbClr val="F4F8FA"/>
          </a:solidFill>
          <a:ln/>
        </p:spPr>
      </p:sp>
      <p:sp>
        <p:nvSpPr>
          <p:cNvPr id="6" name="Shape 4"/>
          <p:cNvSpPr/>
          <p:nvPr/>
        </p:nvSpPr>
        <p:spPr>
          <a:xfrm>
            <a:off x="822960" y="1828800"/>
            <a:ext cx="457200" cy="457200"/>
          </a:xfrm>
          <a:prstGeom prst="ellipse">
            <a:avLst/>
          </a:prstGeom>
          <a:solidFill>
            <a:srgbClr val="1C7293"/>
          </a:solidFill>
          <a:ln/>
        </p:spPr>
      </p:sp>
      <p:sp>
        <p:nvSpPr>
          <p:cNvPr id="7" name="Text 5"/>
          <p:cNvSpPr txBox="1"/>
          <p:nvPr/>
        </p:nvSpPr>
        <p:spPr>
          <a:xfrm>
            <a:off x="822960" y="18288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8" name="Text 6"/>
          <p:cNvSpPr txBox="1"/>
          <p:nvPr/>
        </p:nvSpPr>
        <p:spPr>
          <a:xfrm>
            <a:off x="1463040" y="1755648"/>
            <a:ext cx="4206240" cy="594360"/>
          </a:xfrm>
          <a:prstGeom prst="rect">
            <a:avLst/>
          </a:prstGeom>
          <a:noFill/>
          <a:ln/>
        </p:spPr>
        <p:txBody>
          <a:bodyPr wrap="square" lIns="0" tIns="0" rIns="0" bIns="0" rtlCol="0" anchor="t"/>
          <a:lstStyle/>
          <a:p>
            <a:pPr indent="0" marL="0">
              <a:buNone/>
            </a:pPr>
            <a:r>
              <a:rPr lang="en-US" sz="1550" b="1" dirty="0">
                <a:solidFill>
                  <a:srgbClr val="1A2733"/>
                </a:solidFill>
                <a:latin typeface="Calibri" pitchFamily="34" charset="0"/>
                <a:ea typeface="Calibri" pitchFamily="34" charset="-122"/>
                <a:cs typeface="Calibri" pitchFamily="34" charset="-120"/>
              </a:rPr>
              <a:t>Classification without localization</a:t>
            </a:r>
            <a:endParaRPr lang="en-US" sz="1550" dirty="0"/>
          </a:p>
        </p:txBody>
      </p:sp>
      <p:sp>
        <p:nvSpPr>
          <p:cNvPr id="9" name="Text 7"/>
          <p:cNvSpPr txBox="1"/>
          <p:nvPr/>
        </p:nvSpPr>
        <p:spPr>
          <a:xfrm>
            <a:off x="822960" y="2423160"/>
            <a:ext cx="4846320" cy="1143000"/>
          </a:xfrm>
          <a:prstGeom prst="rect">
            <a:avLst/>
          </a:prstGeom>
          <a:noFill/>
          <a:ln/>
        </p:spPr>
        <p:txBody>
          <a:bodyPr wrap="square" lIns="0" tIns="0" rIns="0" bIns="0" rtlCol="0" anchor="t"/>
          <a:lstStyle/>
          <a:p>
            <a:pPr indent="0" marL="0">
              <a:lnSpc>
                <a:spcPct val="125000"/>
              </a:lnSpc>
              <a:buNone/>
            </a:pPr>
            <a:r>
              <a:rPr lang="en-US" sz="1250" dirty="0">
                <a:solidFill>
                  <a:srgbClr val="5B7A8C"/>
                </a:solidFill>
                <a:latin typeface="Calibri" pitchFamily="34" charset="0"/>
                <a:ea typeface="Calibri" pitchFamily="34" charset="-122"/>
                <a:cs typeface="Calibri" pitchFamily="34" charset="-120"/>
              </a:rPr>
              <a:t>CNNs (ResNet, VGG, EfficientNet) classify burn type but don't identify where the damage is.</a:t>
            </a:r>
            <a:endParaRPr lang="en-US" sz="1250" dirty="0"/>
          </a:p>
        </p:txBody>
      </p:sp>
      <p:sp>
        <p:nvSpPr>
          <p:cNvPr id="10" name="Shape 8"/>
          <p:cNvSpPr/>
          <p:nvPr/>
        </p:nvSpPr>
        <p:spPr>
          <a:xfrm>
            <a:off x="6172200" y="1554480"/>
            <a:ext cx="5394960" cy="2148840"/>
          </a:xfrm>
          <a:prstGeom prst="roundRect">
            <a:avLst>
              <a:gd name="adj" fmla="val 4255"/>
            </a:avLst>
          </a:prstGeom>
          <a:solidFill>
            <a:srgbClr val="F4F8FA"/>
          </a:solidFill>
          <a:ln/>
        </p:spPr>
      </p:sp>
      <p:sp>
        <p:nvSpPr>
          <p:cNvPr id="11" name="Shape 9"/>
          <p:cNvSpPr/>
          <p:nvPr/>
        </p:nvSpPr>
        <p:spPr>
          <a:xfrm>
            <a:off x="6446520" y="1828800"/>
            <a:ext cx="457200" cy="457200"/>
          </a:xfrm>
          <a:prstGeom prst="ellipse">
            <a:avLst/>
          </a:prstGeom>
          <a:solidFill>
            <a:srgbClr val="1C7293"/>
          </a:solidFill>
          <a:ln/>
        </p:spPr>
      </p:sp>
      <p:sp>
        <p:nvSpPr>
          <p:cNvPr id="12" name="Text 10"/>
          <p:cNvSpPr txBox="1"/>
          <p:nvPr/>
        </p:nvSpPr>
        <p:spPr>
          <a:xfrm>
            <a:off x="6446520" y="18288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3" name="Text 11"/>
          <p:cNvSpPr txBox="1"/>
          <p:nvPr/>
        </p:nvSpPr>
        <p:spPr>
          <a:xfrm>
            <a:off x="7086600" y="1755648"/>
            <a:ext cx="4206240" cy="594360"/>
          </a:xfrm>
          <a:prstGeom prst="rect">
            <a:avLst/>
          </a:prstGeom>
          <a:noFill/>
          <a:ln/>
        </p:spPr>
        <p:txBody>
          <a:bodyPr wrap="square" lIns="0" tIns="0" rIns="0" bIns="0" rtlCol="0" anchor="t"/>
          <a:lstStyle/>
          <a:p>
            <a:pPr indent="0" marL="0">
              <a:buNone/>
            </a:pPr>
            <a:r>
              <a:rPr lang="en-US" sz="1550" b="1" dirty="0">
                <a:solidFill>
                  <a:srgbClr val="1A2733"/>
                </a:solidFill>
                <a:latin typeface="Calibri" pitchFamily="34" charset="0"/>
                <a:ea typeface="Calibri" pitchFamily="34" charset="-122"/>
                <a:cs typeface="Calibri" pitchFamily="34" charset="-120"/>
              </a:rPr>
              <a:t>Segmentation used in isolation</a:t>
            </a:r>
            <a:endParaRPr lang="en-US" sz="1550" dirty="0"/>
          </a:p>
        </p:txBody>
      </p:sp>
      <p:sp>
        <p:nvSpPr>
          <p:cNvPr id="14" name="Text 12"/>
          <p:cNvSpPr txBox="1"/>
          <p:nvPr/>
        </p:nvSpPr>
        <p:spPr>
          <a:xfrm>
            <a:off x="6446520" y="2423160"/>
            <a:ext cx="4846320" cy="1143000"/>
          </a:xfrm>
          <a:prstGeom prst="rect">
            <a:avLst/>
          </a:prstGeom>
          <a:noFill/>
          <a:ln/>
        </p:spPr>
        <p:txBody>
          <a:bodyPr wrap="square" lIns="0" tIns="0" rIns="0" bIns="0" rtlCol="0" anchor="t"/>
          <a:lstStyle/>
          <a:p>
            <a:pPr indent="0" marL="0">
              <a:lnSpc>
                <a:spcPct val="125000"/>
              </a:lnSpc>
              <a:buNone/>
            </a:pPr>
            <a:r>
              <a:rPr lang="en-US" sz="1250" dirty="0">
                <a:solidFill>
                  <a:srgbClr val="5B7A8C"/>
                </a:solidFill>
                <a:latin typeface="Calibri" pitchFamily="34" charset="0"/>
                <a:ea typeface="Calibri" pitchFamily="34" charset="-122"/>
                <a:cs typeface="Calibri" pitchFamily="34" charset="-120"/>
              </a:rPr>
              <a:t>U-Net / DeepLab isolate burn boundaries, but aren't linked to severity scoring.</a:t>
            </a:r>
            <a:endParaRPr lang="en-US" sz="1250" dirty="0"/>
          </a:p>
        </p:txBody>
      </p:sp>
      <p:sp>
        <p:nvSpPr>
          <p:cNvPr id="15" name="Shape 13"/>
          <p:cNvSpPr/>
          <p:nvPr/>
        </p:nvSpPr>
        <p:spPr>
          <a:xfrm>
            <a:off x="548640" y="3886200"/>
            <a:ext cx="5394960" cy="2148840"/>
          </a:xfrm>
          <a:prstGeom prst="roundRect">
            <a:avLst>
              <a:gd name="adj" fmla="val 4255"/>
            </a:avLst>
          </a:prstGeom>
          <a:solidFill>
            <a:srgbClr val="F4F8FA"/>
          </a:solidFill>
          <a:ln/>
        </p:spPr>
      </p:sp>
      <p:sp>
        <p:nvSpPr>
          <p:cNvPr id="16" name="Shape 14"/>
          <p:cNvSpPr/>
          <p:nvPr/>
        </p:nvSpPr>
        <p:spPr>
          <a:xfrm>
            <a:off x="822960" y="4160520"/>
            <a:ext cx="457200" cy="457200"/>
          </a:xfrm>
          <a:prstGeom prst="ellipse">
            <a:avLst/>
          </a:prstGeom>
          <a:solidFill>
            <a:srgbClr val="1C7293"/>
          </a:solidFill>
          <a:ln/>
        </p:spPr>
      </p:sp>
      <p:sp>
        <p:nvSpPr>
          <p:cNvPr id="17" name="Text 15"/>
          <p:cNvSpPr txBox="1"/>
          <p:nvPr/>
        </p:nvSpPr>
        <p:spPr>
          <a:xfrm>
            <a:off x="822960" y="4160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8" name="Text 16"/>
          <p:cNvSpPr txBox="1"/>
          <p:nvPr/>
        </p:nvSpPr>
        <p:spPr>
          <a:xfrm>
            <a:off x="1463040" y="4087368"/>
            <a:ext cx="4206240" cy="594360"/>
          </a:xfrm>
          <a:prstGeom prst="rect">
            <a:avLst/>
          </a:prstGeom>
          <a:noFill/>
          <a:ln/>
        </p:spPr>
        <p:txBody>
          <a:bodyPr wrap="square" lIns="0" tIns="0" rIns="0" bIns="0" rtlCol="0" anchor="t"/>
          <a:lstStyle/>
          <a:p>
            <a:pPr indent="0" marL="0">
              <a:buNone/>
            </a:pPr>
            <a:r>
              <a:rPr lang="en-US" sz="1550" b="1" dirty="0">
                <a:solidFill>
                  <a:srgbClr val="1A2733"/>
                </a:solidFill>
                <a:latin typeface="Calibri" pitchFamily="34" charset="0"/>
                <a:ea typeface="Calibri" pitchFamily="34" charset="-122"/>
                <a:cs typeface="Calibri" pitchFamily="34" charset="-120"/>
              </a:rPr>
              <a:t>Minimal clinical interpretation</a:t>
            </a:r>
            <a:endParaRPr lang="en-US" sz="1550" dirty="0"/>
          </a:p>
        </p:txBody>
      </p:sp>
      <p:sp>
        <p:nvSpPr>
          <p:cNvPr id="19" name="Text 17"/>
          <p:cNvSpPr txBox="1"/>
          <p:nvPr/>
        </p:nvSpPr>
        <p:spPr>
          <a:xfrm>
            <a:off x="822960" y="4754880"/>
            <a:ext cx="4846320" cy="1143000"/>
          </a:xfrm>
          <a:prstGeom prst="rect">
            <a:avLst/>
          </a:prstGeom>
          <a:noFill/>
          <a:ln/>
        </p:spPr>
        <p:txBody>
          <a:bodyPr wrap="square" lIns="0" tIns="0" rIns="0" bIns="0" rtlCol="0" anchor="t"/>
          <a:lstStyle/>
          <a:p>
            <a:pPr indent="0" marL="0">
              <a:lnSpc>
                <a:spcPct val="125000"/>
              </a:lnSpc>
              <a:buNone/>
            </a:pPr>
            <a:r>
              <a:rPr lang="en-US" sz="1250" dirty="0">
                <a:solidFill>
                  <a:srgbClr val="5B7A8C"/>
                </a:solidFill>
                <a:latin typeface="Calibri" pitchFamily="34" charset="0"/>
                <a:ea typeface="Calibri" pitchFamily="34" charset="-122"/>
                <a:cs typeface="Calibri" pitchFamily="34" charset="-120"/>
              </a:rPr>
              <a:t>Vision-Language Models rarely applied specifically to burn assessment reporting.</a:t>
            </a:r>
            <a:endParaRPr lang="en-US" sz="1250" dirty="0"/>
          </a:p>
        </p:txBody>
      </p:sp>
      <p:sp>
        <p:nvSpPr>
          <p:cNvPr id="20" name="Shape 18"/>
          <p:cNvSpPr/>
          <p:nvPr/>
        </p:nvSpPr>
        <p:spPr>
          <a:xfrm>
            <a:off x="6172200" y="3886200"/>
            <a:ext cx="5394960" cy="2148840"/>
          </a:xfrm>
          <a:prstGeom prst="roundRect">
            <a:avLst>
              <a:gd name="adj" fmla="val 4255"/>
            </a:avLst>
          </a:prstGeom>
          <a:solidFill>
            <a:srgbClr val="F4F8FA"/>
          </a:solidFill>
          <a:ln/>
        </p:spPr>
      </p:sp>
      <p:sp>
        <p:nvSpPr>
          <p:cNvPr id="21" name="Shape 19"/>
          <p:cNvSpPr/>
          <p:nvPr/>
        </p:nvSpPr>
        <p:spPr>
          <a:xfrm>
            <a:off x="6446520" y="4160520"/>
            <a:ext cx="457200" cy="457200"/>
          </a:xfrm>
          <a:prstGeom prst="ellipse">
            <a:avLst/>
          </a:prstGeom>
          <a:solidFill>
            <a:srgbClr val="1C7293"/>
          </a:solidFill>
          <a:ln/>
        </p:spPr>
      </p:sp>
      <p:sp>
        <p:nvSpPr>
          <p:cNvPr id="22" name="Text 20"/>
          <p:cNvSpPr txBox="1"/>
          <p:nvPr/>
        </p:nvSpPr>
        <p:spPr>
          <a:xfrm>
            <a:off x="6446520" y="4160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3" name="Text 21"/>
          <p:cNvSpPr txBox="1"/>
          <p:nvPr/>
        </p:nvSpPr>
        <p:spPr>
          <a:xfrm>
            <a:off x="7086600" y="4087368"/>
            <a:ext cx="4206240" cy="594360"/>
          </a:xfrm>
          <a:prstGeom prst="rect">
            <a:avLst/>
          </a:prstGeom>
          <a:noFill/>
          <a:ln/>
        </p:spPr>
        <p:txBody>
          <a:bodyPr wrap="square" lIns="0" tIns="0" rIns="0" bIns="0" rtlCol="0" anchor="t"/>
          <a:lstStyle/>
          <a:p>
            <a:pPr indent="0" marL="0">
              <a:buNone/>
            </a:pPr>
            <a:r>
              <a:rPr lang="en-US" sz="1550" b="1" dirty="0">
                <a:solidFill>
                  <a:srgbClr val="1A2733"/>
                </a:solidFill>
                <a:latin typeface="Calibri" pitchFamily="34" charset="0"/>
                <a:ea typeface="Calibri" pitchFamily="34" charset="-122"/>
                <a:cs typeface="Calibri" pitchFamily="34" charset="-120"/>
              </a:rPr>
              <a:t>No integrated healing tracking</a:t>
            </a:r>
            <a:endParaRPr lang="en-US" sz="1550" dirty="0"/>
          </a:p>
        </p:txBody>
      </p:sp>
      <p:sp>
        <p:nvSpPr>
          <p:cNvPr id="24" name="Text 22"/>
          <p:cNvSpPr txBox="1"/>
          <p:nvPr/>
        </p:nvSpPr>
        <p:spPr>
          <a:xfrm>
            <a:off x="6446520" y="4754880"/>
            <a:ext cx="4846320" cy="1143000"/>
          </a:xfrm>
          <a:prstGeom prst="rect">
            <a:avLst/>
          </a:prstGeom>
          <a:noFill/>
          <a:ln/>
        </p:spPr>
        <p:txBody>
          <a:bodyPr wrap="square" lIns="0" tIns="0" rIns="0" bIns="0" rtlCol="0" anchor="t"/>
          <a:lstStyle/>
          <a:p>
            <a:pPr indent="0" marL="0">
              <a:lnSpc>
                <a:spcPct val="125000"/>
              </a:lnSpc>
              <a:buNone/>
            </a:pPr>
            <a:r>
              <a:rPr lang="en-US" sz="1250" dirty="0">
                <a:solidFill>
                  <a:srgbClr val="5B7A8C"/>
                </a:solidFill>
                <a:latin typeface="Calibri" pitchFamily="34" charset="0"/>
                <a:ea typeface="Calibri" pitchFamily="34" charset="-122"/>
                <a:cs typeface="Calibri" pitchFamily="34" charset="-120"/>
              </a:rPr>
              <a:t>Very few systems automatically compare sequential images over time.</a:t>
            </a:r>
            <a:endParaRPr lang="en-US" sz="1250" dirty="0"/>
          </a:p>
        </p:txBody>
      </p:sp>
      <p:sp>
        <p:nvSpPr>
          <p:cNvPr id="25" name="Text 23"/>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5B7A8C"/>
                </a:solidFill>
                <a:latin typeface="Calibri" pitchFamily="34" charset="0"/>
                <a:ea typeface="Calibri" pitchFamily="34" charset="-122"/>
                <a:cs typeface="Calibri" pitchFamily="34" charset="-120"/>
              </a:rPr>
              <a:t>GIKI FCSE  |  Title Defence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8961120" y="-1828800"/>
            <a:ext cx="5486400" cy="5486400"/>
          </a:xfrm>
          <a:prstGeom prst="ellipse">
            <a:avLst/>
          </a:prstGeom>
          <a:solidFill>
            <a:srgbClr val="1C7293">
              <a:alpha val="45000"/>
            </a:srgbClr>
          </a:solidFill>
          <a:ln/>
        </p:spPr>
      </p:sp>
      <p:sp>
        <p:nvSpPr>
          <p:cNvPr id="3" name="Text 1"/>
          <p:cNvSpPr txBox="1"/>
          <p:nvPr/>
        </p:nvSpPr>
        <p:spPr>
          <a:xfrm>
            <a:off x="822960" y="50292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One Platform, Four Capabilities</a:t>
            </a:r>
            <a:endParaRPr lang="en-US" sz="3000" dirty="0"/>
          </a:p>
        </p:txBody>
      </p:sp>
      <p:sp>
        <p:nvSpPr>
          <p:cNvPr id="4" name="Text 2"/>
          <p:cNvSpPr txBox="1"/>
          <p:nvPr/>
        </p:nvSpPr>
        <p:spPr>
          <a:xfrm>
            <a:off x="822960" y="1188720"/>
            <a:ext cx="9875520" cy="548640"/>
          </a:xfrm>
          <a:prstGeom prst="rect">
            <a:avLst/>
          </a:prstGeom>
          <a:noFill/>
          <a:ln/>
        </p:spPr>
        <p:txBody>
          <a:bodyPr wrap="square" lIns="0" tIns="0" rIns="0" bIns="0" rtlCol="0" anchor="ctr"/>
          <a:lstStyle/>
          <a:p>
            <a:pPr indent="0" marL="0">
              <a:buNone/>
            </a:pPr>
            <a:r>
              <a:rPr lang="en-US" sz="1400" dirty="0">
                <a:solidFill>
                  <a:srgbClr val="D7E9F2"/>
                </a:solidFill>
                <a:latin typeface="Calibri" pitchFamily="34" charset="0"/>
                <a:ea typeface="Calibri" pitchFamily="34" charset="-122"/>
                <a:cs typeface="Calibri" pitchFamily="34" charset="-120"/>
              </a:rPr>
              <a:t>A unified multi-task framework that brings classification, segmentation, severity, and monitoring together — tied by AI-generated clinical reporting.</a:t>
            </a:r>
            <a:endParaRPr lang="en-US" sz="1400" dirty="0"/>
          </a:p>
        </p:txBody>
      </p:sp>
      <p:sp>
        <p:nvSpPr>
          <p:cNvPr id="5" name="Shape 3"/>
          <p:cNvSpPr/>
          <p:nvPr/>
        </p:nvSpPr>
        <p:spPr>
          <a:xfrm>
            <a:off x="822960" y="2148840"/>
            <a:ext cx="2468880" cy="2377440"/>
          </a:xfrm>
          <a:prstGeom prst="roundRect">
            <a:avLst>
              <a:gd name="adj" fmla="val 3846"/>
            </a:avLst>
          </a:prstGeom>
          <a:solidFill>
            <a:srgbClr val="FFFFFF">
              <a:alpha val="94000"/>
            </a:srgbClr>
          </a:solidFill>
          <a:ln/>
          <a:effectLst>
            <a:outerShdw sx="100000" sy="100000" kx="0" ky="0" algn="bl" rotWithShape="0" blurRad="76200" dist="25400" dir="5400000">
              <a:srgbClr val="1A2733">
                <a:alpha val="18000"/>
              </a:srgbClr>
            </a:outerShdw>
          </a:effectLst>
        </p:spPr>
      </p:sp>
      <p:sp>
        <p:nvSpPr>
          <p:cNvPr id="6" name="Shape 4"/>
          <p:cNvSpPr/>
          <p:nvPr/>
        </p:nvSpPr>
        <p:spPr>
          <a:xfrm>
            <a:off x="1737360" y="2423160"/>
            <a:ext cx="640080" cy="640080"/>
          </a:xfrm>
          <a:prstGeom prst="ellipse">
            <a:avLst/>
          </a:prstGeom>
          <a:solidFill>
            <a:srgbClr val="E8871E"/>
          </a:solidFill>
          <a:ln/>
        </p:spPr>
      </p:sp>
      <p:sp>
        <p:nvSpPr>
          <p:cNvPr id="7" name="Text 5"/>
          <p:cNvSpPr txBox="1"/>
          <p:nvPr/>
        </p:nvSpPr>
        <p:spPr>
          <a:xfrm>
            <a:off x="1737360" y="24231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8" name="Text 6"/>
          <p:cNvSpPr txBox="1"/>
          <p:nvPr/>
        </p:nvSpPr>
        <p:spPr>
          <a:xfrm>
            <a:off x="822960" y="3246120"/>
            <a:ext cx="2468880" cy="457200"/>
          </a:xfrm>
          <a:prstGeom prst="rect">
            <a:avLst/>
          </a:prstGeom>
          <a:noFill/>
          <a:ln/>
        </p:spPr>
        <p:txBody>
          <a:bodyPr wrap="square" lIns="0" tIns="0" rIns="0" bIns="0" rtlCol="0" anchor="ctr"/>
          <a:lstStyle/>
          <a:p>
            <a:pPr algn="ctr" indent="0" marL="0">
              <a:buNone/>
            </a:pPr>
            <a:r>
              <a:rPr lang="en-US" sz="1800" b="1" dirty="0">
                <a:solidFill>
                  <a:srgbClr val="0B2A45"/>
                </a:solidFill>
                <a:latin typeface="Cambria" pitchFamily="34" charset="0"/>
                <a:ea typeface="Cambria" pitchFamily="34" charset="-122"/>
                <a:cs typeface="Cambria" pitchFamily="34" charset="-120"/>
              </a:rPr>
              <a:t>Classify</a:t>
            </a:r>
            <a:endParaRPr lang="en-US" sz="1800" dirty="0"/>
          </a:p>
        </p:txBody>
      </p:sp>
      <p:sp>
        <p:nvSpPr>
          <p:cNvPr id="9" name="Text 7"/>
          <p:cNvSpPr txBox="1"/>
          <p:nvPr/>
        </p:nvSpPr>
        <p:spPr>
          <a:xfrm>
            <a:off x="960120" y="3703320"/>
            <a:ext cx="2194560" cy="640080"/>
          </a:xfrm>
          <a:prstGeom prst="rect">
            <a:avLst/>
          </a:prstGeom>
          <a:noFill/>
          <a:ln/>
        </p:spPr>
        <p:txBody>
          <a:bodyPr wrap="square" lIns="0" tIns="0" rIns="0" bIns="0" rtlCol="0" anchor="ctr"/>
          <a:lstStyle/>
          <a:p>
            <a:pPr algn="ctr" indent="0" marL="0">
              <a:buNone/>
            </a:pPr>
            <a:r>
              <a:rPr lang="en-US" sz="1250" dirty="0">
                <a:solidFill>
                  <a:srgbClr val="5B7A8C"/>
                </a:solidFill>
                <a:latin typeface="Calibri" pitchFamily="34" charset="0"/>
                <a:ea typeface="Calibri" pitchFamily="34" charset="-122"/>
                <a:cs typeface="Calibri" pitchFamily="34" charset="-120"/>
              </a:rPr>
              <a:t>burn type</a:t>
            </a:r>
            <a:endParaRPr lang="en-US" sz="1250" dirty="0"/>
          </a:p>
        </p:txBody>
      </p:sp>
      <p:sp>
        <p:nvSpPr>
          <p:cNvPr id="10" name="Shape 8"/>
          <p:cNvSpPr/>
          <p:nvPr/>
        </p:nvSpPr>
        <p:spPr>
          <a:xfrm>
            <a:off x="3520440" y="2148840"/>
            <a:ext cx="2468880" cy="2377440"/>
          </a:xfrm>
          <a:prstGeom prst="roundRect">
            <a:avLst>
              <a:gd name="adj" fmla="val 3846"/>
            </a:avLst>
          </a:prstGeom>
          <a:solidFill>
            <a:srgbClr val="FFFFFF">
              <a:alpha val="94000"/>
            </a:srgbClr>
          </a:solidFill>
          <a:ln/>
          <a:effectLst>
            <a:outerShdw sx="100000" sy="100000" kx="0" ky="0" algn="bl" rotWithShape="0" blurRad="76200" dist="25400" dir="5400000">
              <a:srgbClr val="1A2733">
                <a:alpha val="18000"/>
              </a:srgbClr>
            </a:outerShdw>
          </a:effectLst>
        </p:spPr>
      </p:sp>
      <p:sp>
        <p:nvSpPr>
          <p:cNvPr id="11" name="Shape 9"/>
          <p:cNvSpPr/>
          <p:nvPr/>
        </p:nvSpPr>
        <p:spPr>
          <a:xfrm>
            <a:off x="4434840" y="2423160"/>
            <a:ext cx="640080" cy="640080"/>
          </a:xfrm>
          <a:prstGeom prst="ellipse">
            <a:avLst/>
          </a:prstGeom>
          <a:solidFill>
            <a:srgbClr val="E8871E"/>
          </a:solidFill>
          <a:ln/>
        </p:spPr>
      </p:sp>
      <p:sp>
        <p:nvSpPr>
          <p:cNvPr id="12" name="Text 10"/>
          <p:cNvSpPr txBox="1"/>
          <p:nvPr/>
        </p:nvSpPr>
        <p:spPr>
          <a:xfrm>
            <a:off x="4434840" y="24231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3" name="Text 11"/>
          <p:cNvSpPr txBox="1"/>
          <p:nvPr/>
        </p:nvSpPr>
        <p:spPr>
          <a:xfrm>
            <a:off x="3520440" y="3246120"/>
            <a:ext cx="2468880" cy="457200"/>
          </a:xfrm>
          <a:prstGeom prst="rect">
            <a:avLst/>
          </a:prstGeom>
          <a:noFill/>
          <a:ln/>
        </p:spPr>
        <p:txBody>
          <a:bodyPr wrap="square" lIns="0" tIns="0" rIns="0" bIns="0" rtlCol="0" anchor="ctr"/>
          <a:lstStyle/>
          <a:p>
            <a:pPr algn="ctr" indent="0" marL="0">
              <a:buNone/>
            </a:pPr>
            <a:r>
              <a:rPr lang="en-US" sz="1800" b="1" dirty="0">
                <a:solidFill>
                  <a:srgbClr val="0B2A45"/>
                </a:solidFill>
                <a:latin typeface="Cambria" pitchFamily="34" charset="0"/>
                <a:ea typeface="Cambria" pitchFamily="34" charset="-122"/>
                <a:cs typeface="Cambria" pitchFamily="34" charset="-120"/>
              </a:rPr>
              <a:t>Segment</a:t>
            </a:r>
            <a:endParaRPr lang="en-US" sz="1800" dirty="0"/>
          </a:p>
        </p:txBody>
      </p:sp>
      <p:sp>
        <p:nvSpPr>
          <p:cNvPr id="14" name="Text 12"/>
          <p:cNvSpPr txBox="1"/>
          <p:nvPr/>
        </p:nvSpPr>
        <p:spPr>
          <a:xfrm>
            <a:off x="3657600" y="3703320"/>
            <a:ext cx="2194560" cy="640080"/>
          </a:xfrm>
          <a:prstGeom prst="rect">
            <a:avLst/>
          </a:prstGeom>
          <a:noFill/>
          <a:ln/>
        </p:spPr>
        <p:txBody>
          <a:bodyPr wrap="square" lIns="0" tIns="0" rIns="0" bIns="0" rtlCol="0" anchor="ctr"/>
          <a:lstStyle/>
          <a:p>
            <a:pPr algn="ctr" indent="0" marL="0">
              <a:buNone/>
            </a:pPr>
            <a:r>
              <a:rPr lang="en-US" sz="1250" dirty="0">
                <a:solidFill>
                  <a:srgbClr val="5B7A8C"/>
                </a:solidFill>
                <a:latin typeface="Calibri" pitchFamily="34" charset="0"/>
                <a:ea typeface="Calibri" pitchFamily="34" charset="-122"/>
                <a:cs typeface="Calibri" pitchFamily="34" charset="-120"/>
              </a:rPr>
              <a:t>affected region</a:t>
            </a:r>
            <a:endParaRPr lang="en-US" sz="1250" dirty="0"/>
          </a:p>
        </p:txBody>
      </p:sp>
      <p:sp>
        <p:nvSpPr>
          <p:cNvPr id="15" name="Shape 13"/>
          <p:cNvSpPr/>
          <p:nvPr/>
        </p:nvSpPr>
        <p:spPr>
          <a:xfrm>
            <a:off x="6217920" y="2148840"/>
            <a:ext cx="2468880" cy="2377440"/>
          </a:xfrm>
          <a:prstGeom prst="roundRect">
            <a:avLst>
              <a:gd name="adj" fmla="val 3846"/>
            </a:avLst>
          </a:prstGeom>
          <a:solidFill>
            <a:srgbClr val="FFFFFF">
              <a:alpha val="94000"/>
            </a:srgbClr>
          </a:solidFill>
          <a:ln/>
          <a:effectLst>
            <a:outerShdw sx="100000" sy="100000" kx="0" ky="0" algn="bl" rotWithShape="0" blurRad="76200" dist="25400" dir="5400000">
              <a:srgbClr val="1A2733">
                <a:alpha val="18000"/>
              </a:srgbClr>
            </a:outerShdw>
          </a:effectLst>
        </p:spPr>
      </p:sp>
      <p:sp>
        <p:nvSpPr>
          <p:cNvPr id="16" name="Shape 14"/>
          <p:cNvSpPr/>
          <p:nvPr/>
        </p:nvSpPr>
        <p:spPr>
          <a:xfrm>
            <a:off x="7132320" y="2423160"/>
            <a:ext cx="640080" cy="640080"/>
          </a:xfrm>
          <a:prstGeom prst="ellipse">
            <a:avLst/>
          </a:prstGeom>
          <a:solidFill>
            <a:srgbClr val="E8871E"/>
          </a:solidFill>
          <a:ln/>
        </p:spPr>
      </p:sp>
      <p:sp>
        <p:nvSpPr>
          <p:cNvPr id="17" name="Text 15"/>
          <p:cNvSpPr txBox="1"/>
          <p:nvPr/>
        </p:nvSpPr>
        <p:spPr>
          <a:xfrm>
            <a:off x="7132320" y="24231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8" name="Text 16"/>
          <p:cNvSpPr txBox="1"/>
          <p:nvPr/>
        </p:nvSpPr>
        <p:spPr>
          <a:xfrm>
            <a:off x="6217920" y="3246120"/>
            <a:ext cx="2468880" cy="457200"/>
          </a:xfrm>
          <a:prstGeom prst="rect">
            <a:avLst/>
          </a:prstGeom>
          <a:noFill/>
          <a:ln/>
        </p:spPr>
        <p:txBody>
          <a:bodyPr wrap="square" lIns="0" tIns="0" rIns="0" bIns="0" rtlCol="0" anchor="ctr"/>
          <a:lstStyle/>
          <a:p>
            <a:pPr algn="ctr" indent="0" marL="0">
              <a:buNone/>
            </a:pPr>
            <a:r>
              <a:rPr lang="en-US" sz="1800" b="1" dirty="0">
                <a:solidFill>
                  <a:srgbClr val="0B2A45"/>
                </a:solidFill>
                <a:latin typeface="Cambria" pitchFamily="34" charset="0"/>
                <a:ea typeface="Cambria" pitchFamily="34" charset="-122"/>
                <a:cs typeface="Cambria" pitchFamily="34" charset="-120"/>
              </a:rPr>
              <a:t>Score</a:t>
            </a:r>
            <a:endParaRPr lang="en-US" sz="1800" dirty="0"/>
          </a:p>
        </p:txBody>
      </p:sp>
      <p:sp>
        <p:nvSpPr>
          <p:cNvPr id="19" name="Text 17"/>
          <p:cNvSpPr txBox="1"/>
          <p:nvPr/>
        </p:nvSpPr>
        <p:spPr>
          <a:xfrm>
            <a:off x="6355080" y="3703320"/>
            <a:ext cx="2194560" cy="640080"/>
          </a:xfrm>
          <a:prstGeom prst="rect">
            <a:avLst/>
          </a:prstGeom>
          <a:noFill/>
          <a:ln/>
        </p:spPr>
        <p:txBody>
          <a:bodyPr wrap="square" lIns="0" tIns="0" rIns="0" bIns="0" rtlCol="0" anchor="ctr"/>
          <a:lstStyle/>
          <a:p>
            <a:pPr algn="ctr" indent="0" marL="0">
              <a:buNone/>
            </a:pPr>
            <a:r>
              <a:rPr lang="en-US" sz="1250" dirty="0">
                <a:solidFill>
                  <a:srgbClr val="5B7A8C"/>
                </a:solidFill>
                <a:latin typeface="Calibri" pitchFamily="34" charset="0"/>
                <a:ea typeface="Calibri" pitchFamily="34" charset="-122"/>
                <a:cs typeface="Calibri" pitchFamily="34" charset="-120"/>
              </a:rPr>
              <a:t>severity</a:t>
            </a:r>
            <a:endParaRPr lang="en-US" sz="1250" dirty="0"/>
          </a:p>
        </p:txBody>
      </p:sp>
      <p:sp>
        <p:nvSpPr>
          <p:cNvPr id="20" name="Shape 18"/>
          <p:cNvSpPr/>
          <p:nvPr/>
        </p:nvSpPr>
        <p:spPr>
          <a:xfrm>
            <a:off x="8915400" y="2148840"/>
            <a:ext cx="2468880" cy="2377440"/>
          </a:xfrm>
          <a:prstGeom prst="roundRect">
            <a:avLst>
              <a:gd name="adj" fmla="val 3846"/>
            </a:avLst>
          </a:prstGeom>
          <a:solidFill>
            <a:srgbClr val="FFFFFF">
              <a:alpha val="94000"/>
            </a:srgbClr>
          </a:solidFill>
          <a:ln/>
          <a:effectLst>
            <a:outerShdw sx="100000" sy="100000" kx="0" ky="0" algn="bl" rotWithShape="0" blurRad="76200" dist="25400" dir="5400000">
              <a:srgbClr val="1A2733">
                <a:alpha val="18000"/>
              </a:srgbClr>
            </a:outerShdw>
          </a:effectLst>
        </p:spPr>
      </p:sp>
      <p:sp>
        <p:nvSpPr>
          <p:cNvPr id="21" name="Shape 19"/>
          <p:cNvSpPr/>
          <p:nvPr/>
        </p:nvSpPr>
        <p:spPr>
          <a:xfrm>
            <a:off x="9829800" y="2423160"/>
            <a:ext cx="640080" cy="640080"/>
          </a:xfrm>
          <a:prstGeom prst="ellipse">
            <a:avLst/>
          </a:prstGeom>
          <a:solidFill>
            <a:srgbClr val="E8871E"/>
          </a:solidFill>
          <a:ln/>
        </p:spPr>
      </p:sp>
      <p:sp>
        <p:nvSpPr>
          <p:cNvPr id="22" name="Text 20"/>
          <p:cNvSpPr txBox="1"/>
          <p:nvPr/>
        </p:nvSpPr>
        <p:spPr>
          <a:xfrm>
            <a:off x="9829800" y="24231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23" name="Text 21"/>
          <p:cNvSpPr txBox="1"/>
          <p:nvPr/>
        </p:nvSpPr>
        <p:spPr>
          <a:xfrm>
            <a:off x="8915400" y="3246120"/>
            <a:ext cx="2468880" cy="457200"/>
          </a:xfrm>
          <a:prstGeom prst="rect">
            <a:avLst/>
          </a:prstGeom>
          <a:noFill/>
          <a:ln/>
        </p:spPr>
        <p:txBody>
          <a:bodyPr wrap="square" lIns="0" tIns="0" rIns="0" bIns="0" rtlCol="0" anchor="ctr"/>
          <a:lstStyle/>
          <a:p>
            <a:pPr algn="ctr" indent="0" marL="0">
              <a:buNone/>
            </a:pPr>
            <a:r>
              <a:rPr lang="en-US" sz="1800" b="1" dirty="0">
                <a:solidFill>
                  <a:srgbClr val="0B2A45"/>
                </a:solidFill>
                <a:latin typeface="Cambria" pitchFamily="34" charset="0"/>
                <a:ea typeface="Cambria" pitchFamily="34" charset="-122"/>
                <a:cs typeface="Cambria" pitchFamily="34" charset="-120"/>
              </a:rPr>
              <a:t>Monitor</a:t>
            </a:r>
            <a:endParaRPr lang="en-US" sz="1800" dirty="0"/>
          </a:p>
        </p:txBody>
      </p:sp>
      <p:sp>
        <p:nvSpPr>
          <p:cNvPr id="24" name="Text 22"/>
          <p:cNvSpPr txBox="1"/>
          <p:nvPr/>
        </p:nvSpPr>
        <p:spPr>
          <a:xfrm>
            <a:off x="9052560" y="3703320"/>
            <a:ext cx="2194560" cy="640080"/>
          </a:xfrm>
          <a:prstGeom prst="rect">
            <a:avLst/>
          </a:prstGeom>
          <a:noFill/>
          <a:ln/>
        </p:spPr>
        <p:txBody>
          <a:bodyPr wrap="square" lIns="0" tIns="0" rIns="0" bIns="0" rtlCol="0" anchor="ctr"/>
          <a:lstStyle/>
          <a:p>
            <a:pPr algn="ctr" indent="0" marL="0">
              <a:buNone/>
            </a:pPr>
            <a:r>
              <a:rPr lang="en-US" sz="1250" dirty="0">
                <a:solidFill>
                  <a:srgbClr val="5B7A8C"/>
                </a:solidFill>
                <a:latin typeface="Calibri" pitchFamily="34" charset="0"/>
                <a:ea typeface="Calibri" pitchFamily="34" charset="-122"/>
                <a:cs typeface="Calibri" pitchFamily="34" charset="-120"/>
              </a:rPr>
              <a:t>recovery over time</a:t>
            </a:r>
            <a:endParaRPr lang="en-US" sz="1250" dirty="0"/>
          </a:p>
        </p:txBody>
      </p:sp>
      <p:sp>
        <p:nvSpPr>
          <p:cNvPr id="25" name="Text 23"/>
          <p:cNvSpPr txBox="1"/>
          <p:nvPr/>
        </p:nvSpPr>
        <p:spPr>
          <a:xfrm>
            <a:off x="822960" y="4892040"/>
            <a:ext cx="10332720" cy="457200"/>
          </a:xfrm>
          <a:prstGeom prst="rect">
            <a:avLst/>
          </a:prstGeom>
          <a:noFill/>
          <a:ln/>
        </p:spPr>
        <p:txBody>
          <a:bodyPr wrap="square" lIns="0" tIns="0" rIns="0" bIns="0" rtlCol="0" anchor="ctr"/>
          <a:lstStyle/>
          <a:p>
            <a:pPr indent="0" marL="0">
              <a:buNone/>
            </a:pPr>
            <a:r>
              <a:rPr lang="en-US" sz="1400" i="1" dirty="0">
                <a:solidFill>
                  <a:srgbClr val="D7E9F2"/>
                </a:solidFill>
                <a:latin typeface="Calibri" pitchFamily="34" charset="0"/>
                <a:ea typeface="Calibri" pitchFamily="34" charset="-122"/>
                <a:cs typeface="Calibri" pitchFamily="34" charset="-120"/>
              </a:rPr>
              <a:t>All four outputs converge into one Vision-Language-Model-generated clinical report.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65A82"/>
          </a:solidFill>
          <a:ln/>
        </p:spPr>
      </p:sp>
      <p:sp>
        <p:nvSpPr>
          <p:cNvPr id="3" name="Text 1"/>
          <p:cNvSpPr txBox="1"/>
          <p:nvPr/>
        </p:nvSpPr>
        <p:spPr>
          <a:xfrm>
            <a:off x="457200" y="41148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a:t>
            </a:r>
            <a:endParaRPr lang="en-US" sz="2000" dirty="0"/>
          </a:p>
        </p:txBody>
      </p:sp>
      <p:sp>
        <p:nvSpPr>
          <p:cNvPr id="4" name="Text 2"/>
          <p:cNvSpPr txBox="1"/>
          <p:nvPr/>
        </p:nvSpPr>
        <p:spPr>
          <a:xfrm>
            <a:off x="1051560" y="347472"/>
            <a:ext cx="10241280" cy="594360"/>
          </a:xfrm>
          <a:prstGeom prst="rect">
            <a:avLst/>
          </a:prstGeom>
          <a:noFill/>
          <a:ln/>
        </p:spPr>
        <p:txBody>
          <a:bodyPr wrap="square" lIns="0" tIns="0" rIns="0" bIns="0" rtlCol="0" anchor="ctr"/>
          <a:lstStyle/>
          <a:p>
            <a:pPr indent="0" marL="0">
              <a:buNone/>
            </a:pPr>
            <a:r>
              <a:rPr lang="en-US" sz="2800" b="1" dirty="0">
                <a:solidFill>
                  <a:srgbClr val="1A2733"/>
                </a:solidFill>
                <a:latin typeface="Cambria" pitchFamily="34" charset="0"/>
                <a:ea typeface="Cambria" pitchFamily="34" charset="-122"/>
                <a:cs typeface="Cambria" pitchFamily="34" charset="-120"/>
              </a:rPr>
              <a:t>System Architecture</a:t>
            </a:r>
            <a:endParaRPr lang="en-US" sz="2800" dirty="0"/>
          </a:p>
        </p:txBody>
      </p:sp>
      <p:sp>
        <p:nvSpPr>
          <p:cNvPr id="5" name="Shape 3"/>
          <p:cNvSpPr/>
          <p:nvPr/>
        </p:nvSpPr>
        <p:spPr>
          <a:xfrm>
            <a:off x="502920" y="1691640"/>
            <a:ext cx="1874520" cy="1143000"/>
          </a:xfrm>
          <a:prstGeom prst="roundRect">
            <a:avLst>
              <a:gd name="adj" fmla="val 7200"/>
            </a:avLst>
          </a:prstGeom>
          <a:solidFill>
            <a:srgbClr val="065A82"/>
          </a:solidFill>
          <a:ln/>
          <a:effectLst>
            <a:outerShdw sx="100000" sy="100000" kx="0" ky="0" algn="bl" rotWithShape="0" blurRad="76200" dist="25400" dir="5400000">
              <a:srgbClr val="1A2733">
                <a:alpha val="18000"/>
              </a:srgbClr>
            </a:outerShdw>
          </a:effectLst>
        </p:spPr>
      </p:sp>
      <p:sp>
        <p:nvSpPr>
          <p:cNvPr id="6" name="Text 4"/>
          <p:cNvSpPr txBox="1"/>
          <p:nvPr/>
        </p:nvSpPr>
        <p:spPr>
          <a:xfrm>
            <a:off x="502920" y="1691640"/>
            <a:ext cx="1874520" cy="1143000"/>
          </a:xfrm>
          <a:prstGeom prst="rect">
            <a:avLst/>
          </a:prstGeom>
          <a:noFill/>
          <a:ln/>
        </p:spPr>
        <p:txBody>
          <a:bodyPr wrap="square" lIns="50800" tIns="50800" rIns="50800" bIns="508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Burn</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Image Input</a:t>
            </a:r>
            <a:endParaRPr lang="en-US" sz="1250" dirty="0"/>
          </a:p>
        </p:txBody>
      </p:sp>
      <p:sp>
        <p:nvSpPr>
          <p:cNvPr id="7" name="Text 5"/>
          <p:cNvSpPr txBox="1"/>
          <p:nvPr/>
        </p:nvSpPr>
        <p:spPr>
          <a:xfrm>
            <a:off x="2377440" y="1691640"/>
            <a:ext cx="256032" cy="1143000"/>
          </a:xfrm>
          <a:prstGeom prst="rect">
            <a:avLst/>
          </a:prstGeom>
          <a:noFill/>
          <a:ln/>
        </p:spPr>
        <p:txBody>
          <a:bodyPr wrap="square" lIns="0" tIns="0" rIns="0" bIns="0" rtlCol="0" anchor="ctr"/>
          <a:lstStyle/>
          <a:p>
            <a:pPr algn="ctr" indent="0" marL="0">
              <a:buNone/>
            </a:pPr>
            <a:r>
              <a:rPr lang="en-US" sz="2000" b="1" dirty="0">
                <a:solidFill>
                  <a:srgbClr val="1C7293"/>
                </a:solidFill>
                <a:latin typeface="Arial" pitchFamily="34" charset="0"/>
                <a:ea typeface="Arial" pitchFamily="34" charset="-122"/>
                <a:cs typeface="Arial" pitchFamily="34" charset="-120"/>
              </a:rPr>
              <a:t>→</a:t>
            </a:r>
            <a:endParaRPr lang="en-US" sz="2000" dirty="0"/>
          </a:p>
        </p:txBody>
      </p:sp>
      <p:sp>
        <p:nvSpPr>
          <p:cNvPr id="8" name="Shape 6"/>
          <p:cNvSpPr/>
          <p:nvPr/>
        </p:nvSpPr>
        <p:spPr>
          <a:xfrm>
            <a:off x="2633472" y="1691640"/>
            <a:ext cx="1874520" cy="1143000"/>
          </a:xfrm>
          <a:prstGeom prst="roundRect">
            <a:avLst>
              <a:gd name="adj" fmla="val 7200"/>
            </a:avLst>
          </a:prstGeom>
          <a:solidFill>
            <a:srgbClr val="065A82"/>
          </a:solidFill>
          <a:ln/>
          <a:effectLst>
            <a:outerShdw sx="100000" sy="100000" kx="0" ky="0" algn="bl" rotWithShape="0" blurRad="76200" dist="25400" dir="5400000">
              <a:srgbClr val="1A2733">
                <a:alpha val="18000"/>
              </a:srgbClr>
            </a:outerShdw>
          </a:effectLst>
        </p:spPr>
      </p:sp>
      <p:sp>
        <p:nvSpPr>
          <p:cNvPr id="9" name="Text 7"/>
          <p:cNvSpPr txBox="1"/>
          <p:nvPr/>
        </p:nvSpPr>
        <p:spPr>
          <a:xfrm>
            <a:off x="2633472" y="1691640"/>
            <a:ext cx="1874520" cy="1143000"/>
          </a:xfrm>
          <a:prstGeom prst="rect">
            <a:avLst/>
          </a:prstGeom>
          <a:noFill/>
          <a:ln/>
        </p:spPr>
        <p:txBody>
          <a:bodyPr wrap="square" lIns="50800" tIns="50800" rIns="50800" bIns="508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Classification</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(burn type)</a:t>
            </a:r>
            <a:endParaRPr lang="en-US" sz="1250" dirty="0"/>
          </a:p>
        </p:txBody>
      </p:sp>
      <p:sp>
        <p:nvSpPr>
          <p:cNvPr id="10" name="Text 8"/>
          <p:cNvSpPr txBox="1"/>
          <p:nvPr/>
        </p:nvSpPr>
        <p:spPr>
          <a:xfrm>
            <a:off x="4507992" y="1691640"/>
            <a:ext cx="256032" cy="1143000"/>
          </a:xfrm>
          <a:prstGeom prst="rect">
            <a:avLst/>
          </a:prstGeom>
          <a:noFill/>
          <a:ln/>
        </p:spPr>
        <p:txBody>
          <a:bodyPr wrap="square" lIns="0" tIns="0" rIns="0" bIns="0" rtlCol="0" anchor="ctr"/>
          <a:lstStyle/>
          <a:p>
            <a:pPr algn="ctr" indent="0" marL="0">
              <a:buNone/>
            </a:pPr>
            <a:r>
              <a:rPr lang="en-US" sz="2000" b="1" dirty="0">
                <a:solidFill>
                  <a:srgbClr val="1C7293"/>
                </a:solidFill>
                <a:latin typeface="Arial" pitchFamily="34" charset="0"/>
                <a:ea typeface="Arial" pitchFamily="34" charset="-122"/>
                <a:cs typeface="Arial" pitchFamily="34" charset="-120"/>
              </a:rPr>
              <a:t>→</a:t>
            </a:r>
            <a:endParaRPr lang="en-US" sz="2000" dirty="0"/>
          </a:p>
        </p:txBody>
      </p:sp>
      <p:sp>
        <p:nvSpPr>
          <p:cNvPr id="11" name="Shape 9"/>
          <p:cNvSpPr/>
          <p:nvPr/>
        </p:nvSpPr>
        <p:spPr>
          <a:xfrm>
            <a:off x="4764024" y="1691640"/>
            <a:ext cx="1874520" cy="1143000"/>
          </a:xfrm>
          <a:prstGeom prst="roundRect">
            <a:avLst>
              <a:gd name="adj" fmla="val 7200"/>
            </a:avLst>
          </a:prstGeom>
          <a:solidFill>
            <a:srgbClr val="065A82"/>
          </a:solidFill>
          <a:ln/>
          <a:effectLst>
            <a:outerShdw sx="100000" sy="100000" kx="0" ky="0" algn="bl" rotWithShape="0" blurRad="76200" dist="25400" dir="5400000">
              <a:srgbClr val="1A2733">
                <a:alpha val="18000"/>
              </a:srgbClr>
            </a:outerShdw>
          </a:effectLst>
        </p:spPr>
      </p:sp>
      <p:sp>
        <p:nvSpPr>
          <p:cNvPr id="12" name="Text 10"/>
          <p:cNvSpPr txBox="1"/>
          <p:nvPr/>
        </p:nvSpPr>
        <p:spPr>
          <a:xfrm>
            <a:off x="4764024" y="1691640"/>
            <a:ext cx="1874520" cy="1143000"/>
          </a:xfrm>
          <a:prstGeom prst="rect">
            <a:avLst/>
          </a:prstGeom>
          <a:noFill/>
          <a:ln/>
        </p:spPr>
        <p:txBody>
          <a:bodyPr wrap="square" lIns="50800" tIns="50800" rIns="50800" bIns="508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Segmentation</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(localization)</a:t>
            </a:r>
            <a:endParaRPr lang="en-US" sz="1250" dirty="0"/>
          </a:p>
        </p:txBody>
      </p:sp>
      <p:sp>
        <p:nvSpPr>
          <p:cNvPr id="13" name="Text 11"/>
          <p:cNvSpPr txBox="1"/>
          <p:nvPr/>
        </p:nvSpPr>
        <p:spPr>
          <a:xfrm>
            <a:off x="6638544" y="1691640"/>
            <a:ext cx="256032" cy="1143000"/>
          </a:xfrm>
          <a:prstGeom prst="rect">
            <a:avLst/>
          </a:prstGeom>
          <a:noFill/>
          <a:ln/>
        </p:spPr>
        <p:txBody>
          <a:bodyPr wrap="square" lIns="0" tIns="0" rIns="0" bIns="0" rtlCol="0" anchor="ctr"/>
          <a:lstStyle/>
          <a:p>
            <a:pPr algn="ctr" indent="0" marL="0">
              <a:buNone/>
            </a:pPr>
            <a:r>
              <a:rPr lang="en-US" sz="2000" b="1" dirty="0">
                <a:solidFill>
                  <a:srgbClr val="1C7293"/>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6894576" y="1691640"/>
            <a:ext cx="1874520" cy="1143000"/>
          </a:xfrm>
          <a:prstGeom prst="roundRect">
            <a:avLst>
              <a:gd name="adj" fmla="val 7200"/>
            </a:avLst>
          </a:prstGeom>
          <a:solidFill>
            <a:srgbClr val="065A82"/>
          </a:solidFill>
          <a:ln/>
          <a:effectLst>
            <a:outerShdw sx="100000" sy="100000" kx="0" ky="0" algn="bl" rotWithShape="0" blurRad="76200" dist="25400" dir="5400000">
              <a:srgbClr val="1A2733">
                <a:alpha val="18000"/>
              </a:srgbClr>
            </a:outerShdw>
          </a:effectLst>
        </p:spPr>
      </p:sp>
      <p:sp>
        <p:nvSpPr>
          <p:cNvPr id="15" name="Text 13"/>
          <p:cNvSpPr txBox="1"/>
          <p:nvPr/>
        </p:nvSpPr>
        <p:spPr>
          <a:xfrm>
            <a:off x="6894576" y="1691640"/>
            <a:ext cx="1874520" cy="1143000"/>
          </a:xfrm>
          <a:prstGeom prst="rect">
            <a:avLst/>
          </a:prstGeom>
          <a:noFill/>
          <a:ln/>
        </p:spPr>
        <p:txBody>
          <a:bodyPr wrap="square" lIns="50800" tIns="50800" rIns="50800" bIns="508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Severity</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Estimation</a:t>
            </a:r>
            <a:endParaRPr lang="en-US" sz="1250" dirty="0"/>
          </a:p>
        </p:txBody>
      </p:sp>
      <p:sp>
        <p:nvSpPr>
          <p:cNvPr id="16" name="Text 14"/>
          <p:cNvSpPr txBox="1"/>
          <p:nvPr/>
        </p:nvSpPr>
        <p:spPr>
          <a:xfrm>
            <a:off x="8769096" y="1691640"/>
            <a:ext cx="256032" cy="1143000"/>
          </a:xfrm>
          <a:prstGeom prst="rect">
            <a:avLst/>
          </a:prstGeom>
          <a:noFill/>
          <a:ln/>
        </p:spPr>
        <p:txBody>
          <a:bodyPr wrap="square" lIns="0" tIns="0" rIns="0" bIns="0" rtlCol="0" anchor="ctr"/>
          <a:lstStyle/>
          <a:p>
            <a:pPr algn="ctr" indent="0" marL="0">
              <a:buNone/>
            </a:pPr>
            <a:r>
              <a:rPr lang="en-US" sz="2000" b="1" dirty="0">
                <a:solidFill>
                  <a:srgbClr val="1C7293"/>
                </a:solidFill>
                <a:latin typeface="Arial" pitchFamily="34" charset="0"/>
                <a:ea typeface="Arial" pitchFamily="34" charset="-122"/>
                <a:cs typeface="Arial" pitchFamily="34" charset="-120"/>
              </a:rPr>
              <a:t>→</a:t>
            </a:r>
            <a:endParaRPr lang="en-US" sz="2000" dirty="0"/>
          </a:p>
        </p:txBody>
      </p:sp>
      <p:sp>
        <p:nvSpPr>
          <p:cNvPr id="17" name="Shape 15"/>
          <p:cNvSpPr/>
          <p:nvPr/>
        </p:nvSpPr>
        <p:spPr>
          <a:xfrm>
            <a:off x="9025128" y="1691640"/>
            <a:ext cx="1874520" cy="1143000"/>
          </a:xfrm>
          <a:prstGeom prst="roundRect">
            <a:avLst>
              <a:gd name="adj" fmla="val 7200"/>
            </a:avLst>
          </a:prstGeom>
          <a:solidFill>
            <a:srgbClr val="E8871E"/>
          </a:solidFill>
          <a:ln/>
          <a:effectLst>
            <a:outerShdw sx="100000" sy="100000" kx="0" ky="0" algn="bl" rotWithShape="0" blurRad="76200" dist="25400" dir="5400000">
              <a:srgbClr val="1A2733">
                <a:alpha val="18000"/>
              </a:srgbClr>
            </a:outerShdw>
          </a:effectLst>
        </p:spPr>
      </p:sp>
      <p:sp>
        <p:nvSpPr>
          <p:cNvPr id="18" name="Text 16"/>
          <p:cNvSpPr txBox="1"/>
          <p:nvPr/>
        </p:nvSpPr>
        <p:spPr>
          <a:xfrm>
            <a:off x="9025128" y="1691640"/>
            <a:ext cx="1874520" cy="1143000"/>
          </a:xfrm>
          <a:prstGeom prst="rect">
            <a:avLst/>
          </a:prstGeom>
          <a:noFill/>
          <a:ln/>
        </p:spPr>
        <p:txBody>
          <a:bodyPr wrap="square" lIns="50800" tIns="50800" rIns="50800" bIns="508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VLM Report</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Generation</a:t>
            </a:r>
            <a:endParaRPr lang="en-US" sz="1250" dirty="0"/>
          </a:p>
        </p:txBody>
      </p:sp>
      <p:sp>
        <p:nvSpPr>
          <p:cNvPr id="19" name="Shape 17"/>
          <p:cNvSpPr/>
          <p:nvPr/>
        </p:nvSpPr>
        <p:spPr>
          <a:xfrm>
            <a:off x="502920" y="3520440"/>
            <a:ext cx="4206240" cy="1051560"/>
          </a:xfrm>
          <a:prstGeom prst="roundRect">
            <a:avLst>
              <a:gd name="adj" fmla="val 7826"/>
            </a:avLst>
          </a:prstGeom>
          <a:solidFill>
            <a:srgbClr val="1C7293"/>
          </a:solidFill>
          <a:ln/>
          <a:effectLst>
            <a:outerShdw sx="100000" sy="100000" kx="0" ky="0" algn="bl" rotWithShape="0" blurRad="76200" dist="25400" dir="5400000">
              <a:srgbClr val="1A2733">
                <a:alpha val="18000"/>
              </a:srgbClr>
            </a:outerShdw>
          </a:effectLst>
        </p:spPr>
      </p:sp>
      <p:sp>
        <p:nvSpPr>
          <p:cNvPr id="20" name="Text 18"/>
          <p:cNvSpPr txBox="1"/>
          <p:nvPr/>
        </p:nvSpPr>
        <p:spPr>
          <a:xfrm>
            <a:off x="502920" y="3520440"/>
            <a:ext cx="4206240" cy="105156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Sequential Images</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(same wound, over time)</a:t>
            </a:r>
            <a:endParaRPr lang="en-US" sz="1300" dirty="0"/>
          </a:p>
        </p:txBody>
      </p:sp>
      <p:sp>
        <p:nvSpPr>
          <p:cNvPr id="21" name="Text 19"/>
          <p:cNvSpPr txBox="1"/>
          <p:nvPr/>
        </p:nvSpPr>
        <p:spPr>
          <a:xfrm>
            <a:off x="4709160" y="3520440"/>
            <a:ext cx="457200" cy="1051560"/>
          </a:xfrm>
          <a:prstGeom prst="rect">
            <a:avLst/>
          </a:prstGeom>
          <a:noFill/>
          <a:ln/>
        </p:spPr>
        <p:txBody>
          <a:bodyPr wrap="square" lIns="0" tIns="0" rIns="0" bIns="0" rtlCol="0" anchor="ctr"/>
          <a:lstStyle/>
          <a:p>
            <a:pPr algn="ctr" indent="0" marL="0">
              <a:buNone/>
            </a:pPr>
            <a:r>
              <a:rPr lang="en-US" sz="2000" b="1" dirty="0">
                <a:solidFill>
                  <a:srgbClr val="1C7293"/>
                </a:solidFill>
                <a:latin typeface="Arial" pitchFamily="34" charset="0"/>
                <a:ea typeface="Arial" pitchFamily="34" charset="-122"/>
                <a:cs typeface="Arial" pitchFamily="34" charset="-120"/>
              </a:rPr>
              <a:t>→</a:t>
            </a:r>
            <a:endParaRPr lang="en-US" sz="2000" dirty="0"/>
          </a:p>
        </p:txBody>
      </p:sp>
      <p:sp>
        <p:nvSpPr>
          <p:cNvPr id="22" name="Shape 20"/>
          <p:cNvSpPr/>
          <p:nvPr/>
        </p:nvSpPr>
        <p:spPr>
          <a:xfrm>
            <a:off x="5166360" y="3520440"/>
            <a:ext cx="3017520" cy="1051560"/>
          </a:xfrm>
          <a:prstGeom prst="roundRect">
            <a:avLst>
              <a:gd name="adj" fmla="val 7826"/>
            </a:avLst>
          </a:prstGeom>
          <a:solidFill>
            <a:srgbClr val="1C7293"/>
          </a:solidFill>
          <a:ln/>
          <a:effectLst>
            <a:outerShdw sx="100000" sy="100000" kx="0" ky="0" algn="bl" rotWithShape="0" blurRad="76200" dist="25400" dir="5400000">
              <a:srgbClr val="1A2733">
                <a:alpha val="18000"/>
              </a:srgbClr>
            </a:outerShdw>
          </a:effectLst>
        </p:spPr>
      </p:sp>
      <p:sp>
        <p:nvSpPr>
          <p:cNvPr id="23" name="Text 21"/>
          <p:cNvSpPr txBox="1"/>
          <p:nvPr/>
        </p:nvSpPr>
        <p:spPr>
          <a:xfrm>
            <a:off x="5166360" y="3520440"/>
            <a:ext cx="3017520" cy="105156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Longitudinal Comparison</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 Recovery Trend</a:t>
            </a:r>
            <a:endParaRPr lang="en-US" sz="1300" dirty="0"/>
          </a:p>
        </p:txBody>
      </p:sp>
      <p:sp>
        <p:nvSpPr>
          <p:cNvPr id="24" name="Shape 22"/>
          <p:cNvSpPr/>
          <p:nvPr/>
        </p:nvSpPr>
        <p:spPr>
          <a:xfrm>
            <a:off x="3566160" y="2834640"/>
            <a:ext cx="0" cy="640080"/>
          </a:xfrm>
          <a:prstGeom prst="line">
            <a:avLst/>
          </a:prstGeom>
          <a:noFill/>
          <a:ln w="19050">
            <a:solidFill>
              <a:srgbClr val="5B7A8C"/>
            </a:solidFill>
            <a:prstDash val="dash"/>
          </a:ln>
        </p:spPr>
      </p:sp>
      <p:sp>
        <p:nvSpPr>
          <p:cNvPr id="25" name="Text 23"/>
          <p:cNvSpPr txBox="1"/>
          <p:nvPr/>
        </p:nvSpPr>
        <p:spPr>
          <a:xfrm>
            <a:off x="502920" y="4983480"/>
            <a:ext cx="10515600" cy="548640"/>
          </a:xfrm>
          <a:prstGeom prst="rect">
            <a:avLst/>
          </a:prstGeom>
          <a:noFill/>
          <a:ln/>
        </p:spPr>
        <p:txBody>
          <a:bodyPr wrap="square" lIns="0" tIns="0" rIns="0" bIns="0" rtlCol="0" anchor="ctr"/>
          <a:lstStyle/>
          <a:p>
            <a:pPr indent="0" marL="0">
              <a:buNone/>
            </a:pPr>
            <a:r>
              <a:rPr lang="en-US" sz="1450" b="1" dirty="0">
                <a:solidFill>
                  <a:srgbClr val="1A2733"/>
                </a:solidFill>
                <a:latin typeface="Calibri" pitchFamily="34" charset="0"/>
                <a:ea typeface="Calibri" pitchFamily="34" charset="-122"/>
                <a:cs typeface="Calibri" pitchFamily="34" charset="-120"/>
              </a:rPr>
              <a:t>Two parallel paths converge into one report: </a:t>
            </a:r>
            <a:pPr indent="0" marL="0">
              <a:buNone/>
            </a:pPr>
            <a:r>
              <a:rPr lang="en-US" sz="1450" dirty="0">
                <a:solidFill>
                  <a:srgbClr val="1A2733"/>
                </a:solidFill>
                <a:latin typeface="Calibri" pitchFamily="34" charset="0"/>
                <a:ea typeface="Calibri" pitchFamily="34" charset="-122"/>
                <a:cs typeface="Calibri" pitchFamily="34" charset="-120"/>
              </a:rPr>
              <a:t>per-image severity analysis, and cross-time recovery tracking.</a:t>
            </a:r>
            <a:endParaRPr lang="en-US" sz="1450" dirty="0"/>
          </a:p>
        </p:txBody>
      </p:sp>
      <p:sp>
        <p:nvSpPr>
          <p:cNvPr id="26" name="Text 24"/>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5B7A8C"/>
                </a:solidFill>
                <a:latin typeface="Calibri" pitchFamily="34" charset="0"/>
                <a:ea typeface="Calibri" pitchFamily="34" charset="-122"/>
                <a:cs typeface="Calibri" pitchFamily="34" charset="-120"/>
              </a:rPr>
              <a:t>GIKI FCSE  |  Title Defence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65A82"/>
          </a:solidFill>
          <a:ln/>
        </p:spPr>
      </p:sp>
      <p:sp>
        <p:nvSpPr>
          <p:cNvPr id="3" name="Text 1"/>
          <p:cNvSpPr txBox="1"/>
          <p:nvPr/>
        </p:nvSpPr>
        <p:spPr>
          <a:xfrm>
            <a:off x="457200" y="41148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a:t>
            </a:r>
            <a:endParaRPr lang="en-US" sz="2000" dirty="0"/>
          </a:p>
        </p:txBody>
      </p:sp>
      <p:sp>
        <p:nvSpPr>
          <p:cNvPr id="4" name="Text 2"/>
          <p:cNvSpPr txBox="1"/>
          <p:nvPr/>
        </p:nvSpPr>
        <p:spPr>
          <a:xfrm>
            <a:off x="1051560" y="347472"/>
            <a:ext cx="10241280" cy="594360"/>
          </a:xfrm>
          <a:prstGeom prst="rect">
            <a:avLst/>
          </a:prstGeom>
          <a:noFill/>
          <a:ln/>
        </p:spPr>
        <p:txBody>
          <a:bodyPr wrap="square" lIns="0" tIns="0" rIns="0" bIns="0" rtlCol="0" anchor="ctr"/>
          <a:lstStyle/>
          <a:p>
            <a:pPr indent="0" marL="0">
              <a:buNone/>
            </a:pPr>
            <a:r>
              <a:rPr lang="en-US" sz="2800" b="1" dirty="0">
                <a:solidFill>
                  <a:srgbClr val="1A2733"/>
                </a:solidFill>
                <a:latin typeface="Cambria" pitchFamily="34" charset="0"/>
                <a:ea typeface="Cambria" pitchFamily="34" charset="-122"/>
                <a:cs typeface="Cambria" pitchFamily="34" charset="-120"/>
              </a:rPr>
              <a:t>Core AI Components</a:t>
            </a:r>
            <a:endParaRPr lang="en-US" sz="2800" dirty="0"/>
          </a:p>
        </p:txBody>
      </p:sp>
      <p:sp>
        <p:nvSpPr>
          <p:cNvPr id="5" name="Shape 3"/>
          <p:cNvSpPr/>
          <p:nvPr/>
        </p:nvSpPr>
        <p:spPr>
          <a:xfrm>
            <a:off x="502920" y="1554480"/>
            <a:ext cx="3429000" cy="3931920"/>
          </a:xfrm>
          <a:prstGeom prst="roundRect">
            <a:avLst>
              <a:gd name="adj" fmla="val 3200"/>
            </a:avLst>
          </a:prstGeom>
          <a:solidFill>
            <a:srgbClr val="F4F8FA"/>
          </a:solidFill>
          <a:ln w="12700">
            <a:solidFill>
              <a:srgbClr val="DCE7EC"/>
            </a:solidFill>
            <a:prstDash val="solid"/>
          </a:ln>
        </p:spPr>
      </p:sp>
      <p:sp>
        <p:nvSpPr>
          <p:cNvPr id="6" name="Shape 4"/>
          <p:cNvSpPr/>
          <p:nvPr/>
        </p:nvSpPr>
        <p:spPr>
          <a:xfrm>
            <a:off x="1851660" y="1874520"/>
            <a:ext cx="731520" cy="731520"/>
          </a:xfrm>
          <a:prstGeom prst="ellipse">
            <a:avLst/>
          </a:prstGeom>
          <a:solidFill>
            <a:srgbClr val="1C7293"/>
          </a:solidFill>
          <a:ln/>
        </p:spPr>
      </p:sp>
      <p:sp>
        <p:nvSpPr>
          <p:cNvPr id="7" name="Text 5"/>
          <p:cNvSpPr txBox="1"/>
          <p:nvPr/>
        </p:nvSpPr>
        <p:spPr>
          <a:xfrm>
            <a:off x="1851660" y="187452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8" name="Text 6"/>
          <p:cNvSpPr txBox="1"/>
          <p:nvPr/>
        </p:nvSpPr>
        <p:spPr>
          <a:xfrm>
            <a:off x="731520" y="2788920"/>
            <a:ext cx="2971800" cy="502920"/>
          </a:xfrm>
          <a:prstGeom prst="rect">
            <a:avLst/>
          </a:prstGeom>
          <a:noFill/>
          <a:ln/>
        </p:spPr>
        <p:txBody>
          <a:bodyPr wrap="square" lIns="0" tIns="0" rIns="0" bIns="0" rtlCol="0" anchor="ctr"/>
          <a:lstStyle/>
          <a:p>
            <a:pPr algn="ctr" indent="0" marL="0">
              <a:buNone/>
            </a:pPr>
            <a:r>
              <a:rPr lang="en-US" sz="1700" b="1" dirty="0">
                <a:solidFill>
                  <a:srgbClr val="1A2733"/>
                </a:solidFill>
                <a:latin typeface="Cambria" pitchFamily="34" charset="0"/>
                <a:ea typeface="Cambria" pitchFamily="34" charset="-122"/>
                <a:cs typeface="Cambria" pitchFamily="34" charset="-120"/>
              </a:rPr>
              <a:t>Classification</a:t>
            </a:r>
            <a:endParaRPr lang="en-US" sz="1700" dirty="0"/>
          </a:p>
        </p:txBody>
      </p:sp>
      <p:sp>
        <p:nvSpPr>
          <p:cNvPr id="9" name="Text 7"/>
          <p:cNvSpPr txBox="1"/>
          <p:nvPr/>
        </p:nvSpPr>
        <p:spPr>
          <a:xfrm>
            <a:off x="822960" y="3337560"/>
            <a:ext cx="2788920" cy="1920240"/>
          </a:xfrm>
          <a:prstGeom prst="rect">
            <a:avLst/>
          </a:prstGeom>
          <a:noFill/>
          <a:ln/>
        </p:spPr>
        <p:txBody>
          <a:bodyPr wrap="square" lIns="0" tIns="0" rIns="0" bIns="0" rtlCol="0" anchor="t"/>
          <a:lstStyle/>
          <a:p>
            <a:pPr algn="ctr" indent="0" marL="0">
              <a:lnSpc>
                <a:spcPct val="130000"/>
              </a:lnSpc>
              <a:buNone/>
            </a:pPr>
            <a:r>
              <a:rPr lang="en-US" sz="1300" dirty="0">
                <a:solidFill>
                  <a:srgbClr val="5B7A8C"/>
                </a:solidFill>
                <a:latin typeface="Calibri" pitchFamily="34" charset="0"/>
                <a:ea typeface="Calibri" pitchFamily="34" charset="-122"/>
                <a:cs typeface="Calibri" pitchFamily="34" charset="-120"/>
              </a:rPr>
              <a:t>CNN-based architectures (ResNet / EfficientNet family) identify burn type from visual features.</a:t>
            </a:r>
            <a:endParaRPr lang="en-US" sz="1300" dirty="0"/>
          </a:p>
        </p:txBody>
      </p:sp>
      <p:sp>
        <p:nvSpPr>
          <p:cNvPr id="10" name="Shape 8"/>
          <p:cNvSpPr/>
          <p:nvPr/>
        </p:nvSpPr>
        <p:spPr>
          <a:xfrm>
            <a:off x="4206240" y="1554480"/>
            <a:ext cx="3429000" cy="3931920"/>
          </a:xfrm>
          <a:prstGeom prst="roundRect">
            <a:avLst>
              <a:gd name="adj" fmla="val 3200"/>
            </a:avLst>
          </a:prstGeom>
          <a:solidFill>
            <a:srgbClr val="F4F8FA"/>
          </a:solidFill>
          <a:ln w="12700">
            <a:solidFill>
              <a:srgbClr val="DCE7EC"/>
            </a:solidFill>
            <a:prstDash val="solid"/>
          </a:ln>
        </p:spPr>
      </p:sp>
      <p:sp>
        <p:nvSpPr>
          <p:cNvPr id="11" name="Shape 9"/>
          <p:cNvSpPr/>
          <p:nvPr/>
        </p:nvSpPr>
        <p:spPr>
          <a:xfrm>
            <a:off x="5554980" y="1874520"/>
            <a:ext cx="731520" cy="731520"/>
          </a:xfrm>
          <a:prstGeom prst="ellipse">
            <a:avLst/>
          </a:prstGeom>
          <a:solidFill>
            <a:srgbClr val="1C7293"/>
          </a:solidFill>
          <a:ln/>
        </p:spPr>
      </p:sp>
      <p:sp>
        <p:nvSpPr>
          <p:cNvPr id="12" name="Text 10"/>
          <p:cNvSpPr txBox="1"/>
          <p:nvPr/>
        </p:nvSpPr>
        <p:spPr>
          <a:xfrm>
            <a:off x="5554980" y="187452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3" name="Text 11"/>
          <p:cNvSpPr txBox="1"/>
          <p:nvPr/>
        </p:nvSpPr>
        <p:spPr>
          <a:xfrm>
            <a:off x="4434840" y="2788920"/>
            <a:ext cx="2971800" cy="502920"/>
          </a:xfrm>
          <a:prstGeom prst="rect">
            <a:avLst/>
          </a:prstGeom>
          <a:noFill/>
          <a:ln/>
        </p:spPr>
        <p:txBody>
          <a:bodyPr wrap="square" lIns="0" tIns="0" rIns="0" bIns="0" rtlCol="0" anchor="ctr"/>
          <a:lstStyle/>
          <a:p>
            <a:pPr algn="ctr" indent="0" marL="0">
              <a:buNone/>
            </a:pPr>
            <a:r>
              <a:rPr lang="en-US" sz="1700" b="1" dirty="0">
                <a:solidFill>
                  <a:srgbClr val="1A2733"/>
                </a:solidFill>
                <a:latin typeface="Cambria" pitchFamily="34" charset="0"/>
                <a:ea typeface="Cambria" pitchFamily="34" charset="-122"/>
                <a:cs typeface="Cambria" pitchFamily="34" charset="-120"/>
              </a:rPr>
              <a:t>Segmentation</a:t>
            </a:r>
            <a:endParaRPr lang="en-US" sz="1700" dirty="0"/>
          </a:p>
        </p:txBody>
      </p:sp>
      <p:sp>
        <p:nvSpPr>
          <p:cNvPr id="14" name="Text 12"/>
          <p:cNvSpPr txBox="1"/>
          <p:nvPr/>
        </p:nvSpPr>
        <p:spPr>
          <a:xfrm>
            <a:off x="4526280" y="3337560"/>
            <a:ext cx="2788920" cy="1920240"/>
          </a:xfrm>
          <a:prstGeom prst="rect">
            <a:avLst/>
          </a:prstGeom>
          <a:noFill/>
          <a:ln/>
        </p:spPr>
        <p:txBody>
          <a:bodyPr wrap="square" lIns="0" tIns="0" rIns="0" bIns="0" rtlCol="0" anchor="t"/>
          <a:lstStyle/>
          <a:p>
            <a:pPr algn="ctr" indent="0" marL="0">
              <a:lnSpc>
                <a:spcPct val="130000"/>
              </a:lnSpc>
              <a:buNone/>
            </a:pPr>
            <a:r>
              <a:rPr lang="en-US" sz="1300" dirty="0">
                <a:solidFill>
                  <a:srgbClr val="5B7A8C"/>
                </a:solidFill>
                <a:latin typeface="Calibri" pitchFamily="34" charset="0"/>
                <a:ea typeface="Calibri" pitchFamily="34" charset="-122"/>
                <a:cs typeface="Calibri" pitchFamily="34" charset="-120"/>
              </a:rPr>
              <a:t>Encoder-decoder architectures (U-Net family) localize the affected region with pixel-level precision.</a:t>
            </a:r>
            <a:endParaRPr lang="en-US" sz="1300" dirty="0"/>
          </a:p>
        </p:txBody>
      </p:sp>
      <p:sp>
        <p:nvSpPr>
          <p:cNvPr id="15" name="Shape 13"/>
          <p:cNvSpPr/>
          <p:nvPr/>
        </p:nvSpPr>
        <p:spPr>
          <a:xfrm>
            <a:off x="7909560" y="1554480"/>
            <a:ext cx="3429000" cy="3931920"/>
          </a:xfrm>
          <a:prstGeom prst="roundRect">
            <a:avLst>
              <a:gd name="adj" fmla="val 3200"/>
            </a:avLst>
          </a:prstGeom>
          <a:solidFill>
            <a:srgbClr val="F4F8FA"/>
          </a:solidFill>
          <a:ln w="12700">
            <a:solidFill>
              <a:srgbClr val="DCE7EC"/>
            </a:solidFill>
            <a:prstDash val="solid"/>
          </a:ln>
        </p:spPr>
      </p:sp>
      <p:sp>
        <p:nvSpPr>
          <p:cNvPr id="16" name="Shape 14"/>
          <p:cNvSpPr/>
          <p:nvPr/>
        </p:nvSpPr>
        <p:spPr>
          <a:xfrm>
            <a:off x="9258300" y="1874520"/>
            <a:ext cx="731520" cy="731520"/>
          </a:xfrm>
          <a:prstGeom prst="ellipse">
            <a:avLst/>
          </a:prstGeom>
          <a:solidFill>
            <a:srgbClr val="E8871E"/>
          </a:solidFill>
          <a:ln/>
        </p:spPr>
      </p:sp>
      <p:sp>
        <p:nvSpPr>
          <p:cNvPr id="17" name="Text 15"/>
          <p:cNvSpPr txBox="1"/>
          <p:nvPr/>
        </p:nvSpPr>
        <p:spPr>
          <a:xfrm>
            <a:off x="9258300" y="187452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8" name="Text 16"/>
          <p:cNvSpPr txBox="1"/>
          <p:nvPr/>
        </p:nvSpPr>
        <p:spPr>
          <a:xfrm>
            <a:off x="8138160" y="2788920"/>
            <a:ext cx="2971800" cy="502920"/>
          </a:xfrm>
          <a:prstGeom prst="rect">
            <a:avLst/>
          </a:prstGeom>
          <a:noFill/>
          <a:ln/>
        </p:spPr>
        <p:txBody>
          <a:bodyPr wrap="square" lIns="0" tIns="0" rIns="0" bIns="0" rtlCol="0" anchor="ctr"/>
          <a:lstStyle/>
          <a:p>
            <a:pPr algn="ctr" indent="0" marL="0">
              <a:buNone/>
            </a:pPr>
            <a:r>
              <a:rPr lang="en-US" sz="1700" b="1" dirty="0">
                <a:solidFill>
                  <a:srgbClr val="1A2733"/>
                </a:solidFill>
                <a:latin typeface="Cambria" pitchFamily="34" charset="0"/>
                <a:ea typeface="Cambria" pitchFamily="34" charset="-122"/>
                <a:cs typeface="Cambria" pitchFamily="34" charset="-120"/>
              </a:rPr>
              <a:t>Severity Estimation</a:t>
            </a:r>
            <a:endParaRPr lang="en-US" sz="1700" dirty="0"/>
          </a:p>
        </p:txBody>
      </p:sp>
      <p:sp>
        <p:nvSpPr>
          <p:cNvPr id="19" name="Text 17"/>
          <p:cNvSpPr txBox="1"/>
          <p:nvPr/>
        </p:nvSpPr>
        <p:spPr>
          <a:xfrm>
            <a:off x="8229600" y="3337560"/>
            <a:ext cx="2788920" cy="1920240"/>
          </a:xfrm>
          <a:prstGeom prst="rect">
            <a:avLst/>
          </a:prstGeom>
          <a:noFill/>
          <a:ln/>
        </p:spPr>
        <p:txBody>
          <a:bodyPr wrap="square" lIns="0" tIns="0" rIns="0" bIns="0" rtlCol="0" anchor="t"/>
          <a:lstStyle/>
          <a:p>
            <a:pPr algn="ctr" indent="0" marL="0">
              <a:lnSpc>
                <a:spcPct val="130000"/>
              </a:lnSpc>
              <a:buNone/>
            </a:pPr>
            <a:r>
              <a:rPr lang="en-US" sz="1300" dirty="0">
                <a:solidFill>
                  <a:srgbClr val="5B7A8C"/>
                </a:solidFill>
                <a:latin typeface="Calibri" pitchFamily="34" charset="0"/>
                <a:ea typeface="Calibri" pitchFamily="34" charset="-122"/>
                <a:cs typeface="Calibri" pitchFamily="34" charset="-120"/>
              </a:rPr>
              <a:t>Scores the segmented region against visual characteristics — not the whole image uniformly.</a:t>
            </a:r>
            <a:endParaRPr lang="en-US" sz="1300" dirty="0"/>
          </a:p>
        </p:txBody>
      </p:sp>
      <p:sp>
        <p:nvSpPr>
          <p:cNvPr id="20" name="Text 18"/>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5B7A8C"/>
                </a:solidFill>
                <a:latin typeface="Calibri" pitchFamily="34" charset="0"/>
                <a:ea typeface="Calibri" pitchFamily="34" charset="-122"/>
                <a:cs typeface="Calibri" pitchFamily="34" charset="-120"/>
              </a:rPr>
              <a:t>GIKI FCSE  |  Title Defence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C7293"/>
        </a:solidFill>
      </p:bgPr>
    </p:bg>
    <p:spTree>
      <p:nvGrpSpPr>
        <p:cNvPr id="1" name=""/>
        <p:cNvGrpSpPr/>
        <p:nvPr/>
      </p:nvGrpSpPr>
      <p:grpSpPr>
        <a:xfrm>
          <a:off x="0" y="0"/>
          <a:ext cx="0" cy="0"/>
          <a:chOff x="0" y="0"/>
          <a:chExt cx="0" cy="0"/>
        </a:xfrm>
      </p:grpSpPr>
      <p:sp>
        <p:nvSpPr>
          <p:cNvPr id="2" name="Shape 0"/>
          <p:cNvSpPr/>
          <p:nvPr/>
        </p:nvSpPr>
        <p:spPr>
          <a:xfrm>
            <a:off x="-1828800" y="4114800"/>
            <a:ext cx="4572000" cy="4572000"/>
          </a:xfrm>
          <a:prstGeom prst="ellipse">
            <a:avLst/>
          </a:prstGeom>
          <a:solidFill>
            <a:srgbClr val="065A82">
              <a:alpha val="55000"/>
            </a:srgbClr>
          </a:solidFill>
          <a:ln/>
        </p:spPr>
      </p:sp>
      <p:sp>
        <p:nvSpPr>
          <p:cNvPr id="3" name="Text 1"/>
          <p:cNvSpPr txBox="1"/>
          <p:nvPr/>
        </p:nvSpPr>
        <p:spPr>
          <a:xfrm>
            <a:off x="822960" y="548640"/>
            <a:ext cx="105156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From Pixels to Clinical Language</a:t>
            </a:r>
            <a:endParaRPr lang="en-US" sz="2800" dirty="0"/>
          </a:p>
        </p:txBody>
      </p:sp>
      <p:sp>
        <p:nvSpPr>
          <p:cNvPr id="4" name="Shape 2"/>
          <p:cNvSpPr/>
          <p:nvPr/>
        </p:nvSpPr>
        <p:spPr>
          <a:xfrm>
            <a:off x="822960" y="1600200"/>
            <a:ext cx="4937760" cy="1828800"/>
          </a:xfrm>
          <a:prstGeom prst="roundRect">
            <a:avLst>
              <a:gd name="adj" fmla="val 5000"/>
            </a:avLst>
          </a:prstGeom>
          <a:solidFill>
            <a:srgbClr val="FFFFFF"/>
          </a:solidFill>
          <a:ln/>
          <a:effectLst>
            <a:outerShdw sx="100000" sy="100000" kx="0" ky="0" algn="bl" rotWithShape="0" blurRad="76200" dist="25400" dir="5400000">
              <a:srgbClr val="1A2733">
                <a:alpha val="18000"/>
              </a:srgbClr>
            </a:outerShdw>
          </a:effectLst>
        </p:spPr>
      </p:sp>
      <p:sp>
        <p:nvSpPr>
          <p:cNvPr id="5" name="Text 3"/>
          <p:cNvSpPr txBox="1"/>
          <p:nvPr/>
        </p:nvSpPr>
        <p:spPr>
          <a:xfrm>
            <a:off x="1051560" y="1783080"/>
            <a:ext cx="4480560" cy="1463040"/>
          </a:xfrm>
          <a:prstGeom prst="rect">
            <a:avLst/>
          </a:prstGeom>
          <a:noFill/>
          <a:ln/>
        </p:spPr>
        <p:txBody>
          <a:bodyPr wrap="square" lIns="0" tIns="0" rIns="0" bIns="0" rtlCol="0" anchor="ctr"/>
          <a:lstStyle/>
          <a:p>
            <a:pPr algn="l" indent="0" marL="0">
              <a:buNone/>
            </a:pPr>
            <a:r>
              <a:rPr lang="en-US" sz="1500" b="1" dirty="0">
                <a:solidFill>
                  <a:srgbClr val="1A2733"/>
                </a:solidFill>
                <a:latin typeface="Calibri" pitchFamily="34" charset="0"/>
                <a:ea typeface="Calibri" pitchFamily="34" charset="-122"/>
                <a:cs typeface="Calibri" pitchFamily="34" charset="-120"/>
              </a:rPr>
              <a:t>Classification + Segmentation</a:t>
            </a:r>
            <a:endParaRPr lang="en-US" sz="1500" dirty="0"/>
          </a:p>
          <a:p>
            <a:pPr algn="l" indent="0" marL="0">
              <a:buNone/>
            </a:pPr>
            <a:r>
              <a:rPr lang="en-US" sz="1500" b="1" dirty="0">
                <a:solidFill>
                  <a:srgbClr val="1A2733"/>
                </a:solidFill>
                <a:latin typeface="Calibri" pitchFamily="34" charset="0"/>
                <a:ea typeface="Calibri" pitchFamily="34" charset="-122"/>
                <a:cs typeface="Calibri" pitchFamily="34" charset="-120"/>
              </a:rPr>
              <a:t>+ Severity outputs</a:t>
            </a:r>
            <a:endParaRPr lang="en-US" sz="1500" dirty="0"/>
          </a:p>
        </p:txBody>
      </p:sp>
      <p:sp>
        <p:nvSpPr>
          <p:cNvPr id="6" name="Text 4"/>
          <p:cNvSpPr txBox="1"/>
          <p:nvPr/>
        </p:nvSpPr>
        <p:spPr>
          <a:xfrm>
            <a:off x="5897880" y="2057400"/>
            <a:ext cx="731520" cy="12801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a:t>
            </a:r>
            <a:endParaRPr lang="en-US" sz="3000" dirty="0"/>
          </a:p>
        </p:txBody>
      </p:sp>
      <p:sp>
        <p:nvSpPr>
          <p:cNvPr id="7" name="Shape 5"/>
          <p:cNvSpPr/>
          <p:nvPr/>
        </p:nvSpPr>
        <p:spPr>
          <a:xfrm>
            <a:off x="6720840" y="1600200"/>
            <a:ext cx="4663440" cy="1828800"/>
          </a:xfrm>
          <a:prstGeom prst="roundRect">
            <a:avLst>
              <a:gd name="adj" fmla="val 5000"/>
            </a:avLst>
          </a:prstGeom>
          <a:solidFill>
            <a:srgbClr val="E8871E"/>
          </a:solidFill>
          <a:ln/>
          <a:effectLst>
            <a:outerShdw sx="100000" sy="100000" kx="0" ky="0" algn="bl" rotWithShape="0" blurRad="76200" dist="25400" dir="5400000">
              <a:srgbClr val="1A2733">
                <a:alpha val="18000"/>
              </a:srgbClr>
            </a:outerShdw>
          </a:effectLst>
        </p:spPr>
      </p:sp>
      <p:sp>
        <p:nvSpPr>
          <p:cNvPr id="8" name="Text 6"/>
          <p:cNvSpPr txBox="1"/>
          <p:nvPr/>
        </p:nvSpPr>
        <p:spPr>
          <a:xfrm>
            <a:off x="6949440" y="1783080"/>
            <a:ext cx="4206240" cy="1463040"/>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Vision-Language Model</a:t>
            </a:r>
            <a:endParaRPr lang="en-US" sz="1500" dirty="0"/>
          </a:p>
          <a:p>
            <a:pPr algn="l" indent="0" marL="0">
              <a:buNone/>
            </a:pPr>
            <a:r>
              <a:rPr lang="en-US" sz="1500" b="1" dirty="0">
                <a:solidFill>
                  <a:srgbClr val="FFFFFF"/>
                </a:solidFill>
                <a:latin typeface="Calibri" pitchFamily="34" charset="0"/>
                <a:ea typeface="Calibri" pitchFamily="34" charset="-122"/>
                <a:cs typeface="Calibri" pitchFamily="34" charset="-120"/>
              </a:rPr>
              <a:t>(BLIP-family)</a:t>
            </a:r>
            <a:endParaRPr lang="en-US" sz="1500" dirty="0"/>
          </a:p>
        </p:txBody>
      </p:sp>
      <p:sp>
        <p:nvSpPr>
          <p:cNvPr id="9" name="Text 7"/>
          <p:cNvSpPr txBox="1"/>
          <p:nvPr/>
        </p:nvSpPr>
        <p:spPr>
          <a:xfrm>
            <a:off x="822960" y="3794760"/>
            <a:ext cx="54864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Automated report includes:</a:t>
            </a:r>
            <a:endParaRPr lang="en-US" sz="1400" dirty="0"/>
          </a:p>
        </p:txBody>
      </p:sp>
      <p:sp>
        <p:nvSpPr>
          <p:cNvPr id="10" name="Shape 8"/>
          <p:cNvSpPr/>
          <p:nvPr/>
        </p:nvSpPr>
        <p:spPr>
          <a:xfrm>
            <a:off x="822960" y="4297680"/>
            <a:ext cx="128016" cy="128016"/>
          </a:xfrm>
          <a:prstGeom prst="ellipse">
            <a:avLst/>
          </a:prstGeom>
          <a:solidFill>
            <a:srgbClr val="E8871E"/>
          </a:solidFill>
          <a:ln/>
        </p:spPr>
      </p:sp>
      <p:sp>
        <p:nvSpPr>
          <p:cNvPr id="11" name="Text 9"/>
          <p:cNvSpPr txBox="1"/>
          <p:nvPr/>
        </p:nvSpPr>
        <p:spPr>
          <a:xfrm>
            <a:off x="1097280" y="4206240"/>
            <a:ext cx="73152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Severity score</a:t>
            </a:r>
            <a:endParaRPr lang="en-US" sz="1400" dirty="0"/>
          </a:p>
        </p:txBody>
      </p:sp>
      <p:sp>
        <p:nvSpPr>
          <p:cNvPr id="12" name="Shape 10"/>
          <p:cNvSpPr/>
          <p:nvPr/>
        </p:nvSpPr>
        <p:spPr>
          <a:xfrm>
            <a:off x="822960" y="4800600"/>
            <a:ext cx="128016" cy="128016"/>
          </a:xfrm>
          <a:prstGeom prst="ellipse">
            <a:avLst/>
          </a:prstGeom>
          <a:solidFill>
            <a:srgbClr val="E8871E"/>
          </a:solidFill>
          <a:ln/>
        </p:spPr>
      </p:sp>
      <p:sp>
        <p:nvSpPr>
          <p:cNvPr id="13" name="Text 11"/>
          <p:cNvSpPr txBox="1"/>
          <p:nvPr/>
        </p:nvSpPr>
        <p:spPr>
          <a:xfrm>
            <a:off x="1097280" y="4709160"/>
            <a:ext cx="73152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Affected area measurement</a:t>
            </a:r>
            <a:endParaRPr lang="en-US" sz="1400" dirty="0"/>
          </a:p>
        </p:txBody>
      </p:sp>
      <p:sp>
        <p:nvSpPr>
          <p:cNvPr id="14" name="Shape 12"/>
          <p:cNvSpPr/>
          <p:nvPr/>
        </p:nvSpPr>
        <p:spPr>
          <a:xfrm>
            <a:off x="822960" y="5303520"/>
            <a:ext cx="128016" cy="128016"/>
          </a:xfrm>
          <a:prstGeom prst="ellipse">
            <a:avLst/>
          </a:prstGeom>
          <a:solidFill>
            <a:srgbClr val="E8871E"/>
          </a:solidFill>
          <a:ln/>
        </p:spPr>
      </p:sp>
      <p:sp>
        <p:nvSpPr>
          <p:cNvPr id="15" name="Text 13"/>
          <p:cNvSpPr txBox="1"/>
          <p:nvPr/>
        </p:nvSpPr>
        <p:spPr>
          <a:xfrm>
            <a:off x="1097280" y="5212080"/>
            <a:ext cx="73152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Recovery trend (when sequential data available)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E8871E"/>
          </a:solidFill>
          <a:ln/>
        </p:spPr>
      </p:sp>
      <p:sp>
        <p:nvSpPr>
          <p:cNvPr id="3" name="Text 1"/>
          <p:cNvSpPr txBox="1"/>
          <p:nvPr/>
        </p:nvSpPr>
        <p:spPr>
          <a:xfrm>
            <a:off x="457200" y="41148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a:t>
            </a:r>
            <a:endParaRPr lang="en-US" sz="2000" dirty="0"/>
          </a:p>
        </p:txBody>
      </p:sp>
      <p:sp>
        <p:nvSpPr>
          <p:cNvPr id="4" name="Text 2"/>
          <p:cNvSpPr txBox="1"/>
          <p:nvPr/>
        </p:nvSpPr>
        <p:spPr>
          <a:xfrm>
            <a:off x="1051560" y="347472"/>
            <a:ext cx="10241280" cy="594360"/>
          </a:xfrm>
          <a:prstGeom prst="rect">
            <a:avLst/>
          </a:prstGeom>
          <a:noFill/>
          <a:ln/>
        </p:spPr>
        <p:txBody>
          <a:bodyPr wrap="square" lIns="0" tIns="0" rIns="0" bIns="0" rtlCol="0" anchor="ctr"/>
          <a:lstStyle/>
          <a:p>
            <a:pPr indent="0" marL="0">
              <a:buNone/>
            </a:pPr>
            <a:r>
              <a:rPr lang="en-US" sz="2800" b="1" dirty="0">
                <a:solidFill>
                  <a:srgbClr val="1A2733"/>
                </a:solidFill>
                <a:latin typeface="Cambria" pitchFamily="34" charset="0"/>
                <a:ea typeface="Cambria" pitchFamily="34" charset="-122"/>
                <a:cs typeface="Cambria" pitchFamily="34" charset="-120"/>
              </a:rPr>
              <a:t>Recovery Monitoring Over Time</a:t>
            </a:r>
            <a:endParaRPr lang="en-US" sz="2800" dirty="0"/>
          </a:p>
        </p:txBody>
      </p:sp>
      <p:sp>
        <p:nvSpPr>
          <p:cNvPr id="5" name="Shape 3"/>
          <p:cNvSpPr/>
          <p:nvPr/>
        </p:nvSpPr>
        <p:spPr>
          <a:xfrm>
            <a:off x="914400" y="2011680"/>
            <a:ext cx="9875520" cy="0"/>
          </a:xfrm>
          <a:prstGeom prst="line">
            <a:avLst/>
          </a:prstGeom>
          <a:noFill/>
          <a:ln w="25400">
            <a:solidFill>
              <a:srgbClr val="C7D8E0"/>
            </a:solidFill>
            <a:prstDash val="solid"/>
          </a:ln>
        </p:spPr>
      </p:sp>
      <p:sp>
        <p:nvSpPr>
          <p:cNvPr id="6" name="Shape 4"/>
          <p:cNvSpPr/>
          <p:nvPr/>
        </p:nvSpPr>
        <p:spPr>
          <a:xfrm>
            <a:off x="795528" y="1892808"/>
            <a:ext cx="237744" cy="237744"/>
          </a:xfrm>
          <a:prstGeom prst="ellipse">
            <a:avLst/>
          </a:prstGeom>
          <a:solidFill>
            <a:srgbClr val="1C7293"/>
          </a:solidFill>
          <a:ln w="25400">
            <a:solidFill>
              <a:srgbClr val="FFFFFF"/>
            </a:solidFill>
            <a:prstDash val="solid"/>
          </a:ln>
        </p:spPr>
      </p:sp>
      <p:sp>
        <p:nvSpPr>
          <p:cNvPr id="7" name="Text 5"/>
          <p:cNvSpPr txBox="1"/>
          <p:nvPr/>
        </p:nvSpPr>
        <p:spPr>
          <a:xfrm>
            <a:off x="91440" y="2240280"/>
            <a:ext cx="1645920" cy="548640"/>
          </a:xfrm>
          <a:prstGeom prst="rect">
            <a:avLst/>
          </a:prstGeom>
          <a:noFill/>
          <a:ln/>
        </p:spPr>
        <p:txBody>
          <a:bodyPr wrap="square" lIns="0" tIns="0" rIns="0" bIns="0" rtlCol="0" anchor="ctr"/>
          <a:lstStyle/>
          <a:p>
            <a:pPr algn="ctr" indent="0" marL="0">
              <a:lnSpc>
                <a:spcPct val="115000"/>
              </a:lnSpc>
              <a:buNone/>
            </a:pPr>
            <a:r>
              <a:rPr lang="en-US" sz="1150" dirty="0">
                <a:solidFill>
                  <a:srgbClr val="5B7A8C"/>
                </a:solidFill>
                <a:latin typeface="Calibri" pitchFamily="34" charset="0"/>
                <a:ea typeface="Calibri" pitchFamily="34" charset="-122"/>
                <a:cs typeface="Calibri" pitchFamily="34" charset="-120"/>
              </a:rPr>
              <a:t>Day 0</a:t>
            </a:r>
            <a:endParaRPr lang="en-US" sz="1150" dirty="0"/>
          </a:p>
          <a:p>
            <a:pPr algn="ctr" indent="0" marL="0">
              <a:lnSpc>
                <a:spcPct val="115000"/>
              </a:lnSpc>
              <a:buNone/>
            </a:pPr>
            <a:r>
              <a:rPr lang="en-US" sz="1150" dirty="0">
                <a:solidFill>
                  <a:srgbClr val="5B7A8C"/>
                </a:solidFill>
                <a:latin typeface="Calibri" pitchFamily="34" charset="0"/>
                <a:ea typeface="Calibri" pitchFamily="34" charset="-122"/>
                <a:cs typeface="Calibri" pitchFamily="34" charset="-120"/>
              </a:rPr>
              <a:t>Initial image</a:t>
            </a:r>
            <a:endParaRPr lang="en-US" sz="1150" dirty="0"/>
          </a:p>
        </p:txBody>
      </p:sp>
      <p:sp>
        <p:nvSpPr>
          <p:cNvPr id="8" name="Shape 6"/>
          <p:cNvSpPr/>
          <p:nvPr/>
        </p:nvSpPr>
        <p:spPr>
          <a:xfrm>
            <a:off x="4087368" y="1892808"/>
            <a:ext cx="237744" cy="237744"/>
          </a:xfrm>
          <a:prstGeom prst="ellipse">
            <a:avLst/>
          </a:prstGeom>
          <a:solidFill>
            <a:srgbClr val="1C7293"/>
          </a:solidFill>
          <a:ln w="25400">
            <a:solidFill>
              <a:srgbClr val="FFFFFF"/>
            </a:solidFill>
            <a:prstDash val="solid"/>
          </a:ln>
        </p:spPr>
      </p:sp>
      <p:sp>
        <p:nvSpPr>
          <p:cNvPr id="9" name="Text 7"/>
          <p:cNvSpPr txBox="1"/>
          <p:nvPr/>
        </p:nvSpPr>
        <p:spPr>
          <a:xfrm>
            <a:off x="3383280" y="2240280"/>
            <a:ext cx="1645920" cy="548640"/>
          </a:xfrm>
          <a:prstGeom prst="rect">
            <a:avLst/>
          </a:prstGeom>
          <a:noFill/>
          <a:ln/>
        </p:spPr>
        <p:txBody>
          <a:bodyPr wrap="square" lIns="0" tIns="0" rIns="0" bIns="0" rtlCol="0" anchor="ctr"/>
          <a:lstStyle/>
          <a:p>
            <a:pPr algn="ctr" indent="0" marL="0">
              <a:lnSpc>
                <a:spcPct val="115000"/>
              </a:lnSpc>
              <a:buNone/>
            </a:pPr>
            <a:r>
              <a:rPr lang="en-US" sz="1150" dirty="0">
                <a:solidFill>
                  <a:srgbClr val="5B7A8C"/>
                </a:solidFill>
                <a:latin typeface="Calibri" pitchFamily="34" charset="0"/>
                <a:ea typeface="Calibri" pitchFamily="34" charset="-122"/>
                <a:cs typeface="Calibri" pitchFamily="34" charset="-120"/>
              </a:rPr>
              <a:t>Day 7</a:t>
            </a:r>
            <a:endParaRPr lang="en-US" sz="1150" dirty="0"/>
          </a:p>
          <a:p>
            <a:pPr algn="ctr" indent="0" marL="0">
              <a:lnSpc>
                <a:spcPct val="115000"/>
              </a:lnSpc>
              <a:buNone/>
            </a:pPr>
            <a:r>
              <a:rPr lang="en-US" sz="1150" dirty="0">
                <a:solidFill>
                  <a:srgbClr val="5B7A8C"/>
                </a:solidFill>
                <a:latin typeface="Calibri" pitchFamily="34" charset="0"/>
                <a:ea typeface="Calibri" pitchFamily="34" charset="-122"/>
                <a:cs typeface="Calibri" pitchFamily="34" charset="-120"/>
              </a:rPr>
              <a:t>Follow-up</a:t>
            </a:r>
            <a:endParaRPr lang="en-US" sz="1150" dirty="0"/>
          </a:p>
        </p:txBody>
      </p:sp>
      <p:sp>
        <p:nvSpPr>
          <p:cNvPr id="10" name="Shape 8"/>
          <p:cNvSpPr/>
          <p:nvPr/>
        </p:nvSpPr>
        <p:spPr>
          <a:xfrm>
            <a:off x="7379208" y="1892808"/>
            <a:ext cx="237744" cy="237744"/>
          </a:xfrm>
          <a:prstGeom prst="ellipse">
            <a:avLst/>
          </a:prstGeom>
          <a:solidFill>
            <a:srgbClr val="1C7293"/>
          </a:solidFill>
          <a:ln w="25400">
            <a:solidFill>
              <a:srgbClr val="FFFFFF"/>
            </a:solidFill>
            <a:prstDash val="solid"/>
          </a:ln>
        </p:spPr>
      </p:sp>
      <p:sp>
        <p:nvSpPr>
          <p:cNvPr id="11" name="Text 9"/>
          <p:cNvSpPr txBox="1"/>
          <p:nvPr/>
        </p:nvSpPr>
        <p:spPr>
          <a:xfrm>
            <a:off x="6675120" y="2240280"/>
            <a:ext cx="1645920" cy="548640"/>
          </a:xfrm>
          <a:prstGeom prst="rect">
            <a:avLst/>
          </a:prstGeom>
          <a:noFill/>
          <a:ln/>
        </p:spPr>
        <p:txBody>
          <a:bodyPr wrap="square" lIns="0" tIns="0" rIns="0" bIns="0" rtlCol="0" anchor="ctr"/>
          <a:lstStyle/>
          <a:p>
            <a:pPr algn="ctr" indent="0" marL="0">
              <a:lnSpc>
                <a:spcPct val="115000"/>
              </a:lnSpc>
              <a:buNone/>
            </a:pPr>
            <a:r>
              <a:rPr lang="en-US" sz="1150" dirty="0">
                <a:solidFill>
                  <a:srgbClr val="5B7A8C"/>
                </a:solidFill>
                <a:latin typeface="Calibri" pitchFamily="34" charset="0"/>
                <a:ea typeface="Calibri" pitchFamily="34" charset="-122"/>
                <a:cs typeface="Calibri" pitchFamily="34" charset="-120"/>
              </a:rPr>
              <a:t>Day 14</a:t>
            </a:r>
            <a:endParaRPr lang="en-US" sz="1150" dirty="0"/>
          </a:p>
          <a:p>
            <a:pPr algn="ctr" indent="0" marL="0">
              <a:lnSpc>
                <a:spcPct val="115000"/>
              </a:lnSpc>
              <a:buNone/>
            </a:pPr>
            <a:r>
              <a:rPr lang="en-US" sz="1150" dirty="0">
                <a:solidFill>
                  <a:srgbClr val="5B7A8C"/>
                </a:solidFill>
                <a:latin typeface="Calibri" pitchFamily="34" charset="0"/>
                <a:ea typeface="Calibri" pitchFamily="34" charset="-122"/>
                <a:cs typeface="Calibri" pitchFamily="34" charset="-120"/>
              </a:rPr>
              <a:t>Follow-up</a:t>
            </a:r>
            <a:endParaRPr lang="en-US" sz="1150" dirty="0"/>
          </a:p>
        </p:txBody>
      </p:sp>
      <p:sp>
        <p:nvSpPr>
          <p:cNvPr id="12" name="Shape 10"/>
          <p:cNvSpPr/>
          <p:nvPr/>
        </p:nvSpPr>
        <p:spPr>
          <a:xfrm>
            <a:off x="10671048" y="1892808"/>
            <a:ext cx="237744" cy="237744"/>
          </a:xfrm>
          <a:prstGeom prst="ellipse">
            <a:avLst/>
          </a:prstGeom>
          <a:solidFill>
            <a:srgbClr val="1C7293"/>
          </a:solidFill>
          <a:ln w="25400">
            <a:solidFill>
              <a:srgbClr val="FFFFFF"/>
            </a:solidFill>
            <a:prstDash val="solid"/>
          </a:ln>
        </p:spPr>
      </p:sp>
      <p:sp>
        <p:nvSpPr>
          <p:cNvPr id="13" name="Text 11"/>
          <p:cNvSpPr txBox="1"/>
          <p:nvPr/>
        </p:nvSpPr>
        <p:spPr>
          <a:xfrm>
            <a:off x="9966960" y="2240280"/>
            <a:ext cx="1645920" cy="548640"/>
          </a:xfrm>
          <a:prstGeom prst="rect">
            <a:avLst/>
          </a:prstGeom>
          <a:noFill/>
          <a:ln/>
        </p:spPr>
        <p:txBody>
          <a:bodyPr wrap="square" lIns="0" tIns="0" rIns="0" bIns="0" rtlCol="0" anchor="ctr"/>
          <a:lstStyle/>
          <a:p>
            <a:pPr algn="ctr" indent="0" marL="0">
              <a:lnSpc>
                <a:spcPct val="115000"/>
              </a:lnSpc>
              <a:buNone/>
            </a:pPr>
            <a:r>
              <a:rPr lang="en-US" sz="1150" dirty="0">
                <a:solidFill>
                  <a:srgbClr val="5B7A8C"/>
                </a:solidFill>
                <a:latin typeface="Calibri" pitchFamily="34" charset="0"/>
                <a:ea typeface="Calibri" pitchFamily="34" charset="-122"/>
                <a:cs typeface="Calibri" pitchFamily="34" charset="-120"/>
              </a:rPr>
              <a:t>Day X</a:t>
            </a:r>
            <a:endParaRPr lang="en-US" sz="1150" dirty="0"/>
          </a:p>
          <a:p>
            <a:pPr algn="ctr" indent="0" marL="0">
              <a:lnSpc>
                <a:spcPct val="115000"/>
              </a:lnSpc>
              <a:buNone/>
            </a:pPr>
            <a:r>
              <a:rPr lang="en-US" sz="1150" dirty="0">
                <a:solidFill>
                  <a:srgbClr val="5B7A8C"/>
                </a:solidFill>
                <a:latin typeface="Calibri" pitchFamily="34" charset="0"/>
                <a:ea typeface="Calibri" pitchFamily="34" charset="-122"/>
                <a:cs typeface="Calibri" pitchFamily="34" charset="-120"/>
              </a:rPr>
              <a:t>Latest</a:t>
            </a:r>
            <a:endParaRPr lang="en-US" sz="1150" dirty="0"/>
          </a:p>
        </p:txBody>
      </p:sp>
      <p:sp>
        <p:nvSpPr>
          <p:cNvPr id="14" name="Text 12"/>
          <p:cNvSpPr txBox="1"/>
          <p:nvPr/>
        </p:nvSpPr>
        <p:spPr>
          <a:xfrm>
            <a:off x="822960" y="3017520"/>
            <a:ext cx="10332720" cy="822960"/>
          </a:xfrm>
          <a:prstGeom prst="rect">
            <a:avLst/>
          </a:prstGeom>
          <a:noFill/>
          <a:ln/>
        </p:spPr>
        <p:txBody>
          <a:bodyPr wrap="square" lIns="0" tIns="0" rIns="0" bIns="0" rtlCol="0" anchor="ctr"/>
          <a:lstStyle/>
          <a:p>
            <a:pPr indent="0" marL="0">
              <a:lnSpc>
                <a:spcPct val="130000"/>
              </a:lnSpc>
              <a:buNone/>
            </a:pPr>
            <a:r>
              <a:rPr lang="en-US" sz="1600" dirty="0">
                <a:solidFill>
                  <a:srgbClr val="1A2733"/>
                </a:solidFill>
                <a:latin typeface="Calibri" pitchFamily="34" charset="0"/>
                <a:ea typeface="Calibri" pitchFamily="34" charset="-122"/>
                <a:cs typeface="Calibri" pitchFamily="34" charset="-120"/>
              </a:rPr>
              <a:t>Sequential images of the same wound are compared, not treated in isolation.
</a:t>
            </a:r>
            <a:pPr indent="0" marL="0">
              <a:lnSpc>
                <a:spcPct val="130000"/>
              </a:lnSpc>
              <a:buNone/>
            </a:pPr>
            <a:r>
              <a:rPr lang="en-US" sz="1600" b="1" dirty="0">
                <a:solidFill>
                  <a:srgbClr val="1A2733"/>
                </a:solidFill>
                <a:latin typeface="Calibri" pitchFamily="34" charset="0"/>
                <a:ea typeface="Calibri" pitchFamily="34" charset="-122"/>
                <a:cs typeface="Calibri" pitchFamily="34" charset="-120"/>
              </a:rPr>
              <a:t>This module tracks:</a:t>
            </a:r>
            <a:endParaRPr lang="en-US" sz="1600" dirty="0"/>
          </a:p>
        </p:txBody>
      </p:sp>
      <p:sp>
        <p:nvSpPr>
          <p:cNvPr id="15" name="Shape 13"/>
          <p:cNvSpPr/>
          <p:nvPr/>
        </p:nvSpPr>
        <p:spPr>
          <a:xfrm>
            <a:off x="822960" y="3977640"/>
            <a:ext cx="3291840" cy="1371600"/>
          </a:xfrm>
          <a:prstGeom prst="roundRect">
            <a:avLst>
              <a:gd name="adj" fmla="val 6667"/>
            </a:avLst>
          </a:prstGeom>
          <a:solidFill>
            <a:srgbClr val="FFFFFF"/>
          </a:solidFill>
          <a:ln w="12700">
            <a:solidFill>
              <a:srgbClr val="DCE7EC"/>
            </a:solidFill>
            <a:prstDash val="solid"/>
          </a:ln>
        </p:spPr>
      </p:sp>
      <p:sp>
        <p:nvSpPr>
          <p:cNvPr id="16" name="Text 14"/>
          <p:cNvSpPr txBox="1"/>
          <p:nvPr/>
        </p:nvSpPr>
        <p:spPr>
          <a:xfrm>
            <a:off x="1005840" y="3977640"/>
            <a:ext cx="2926080" cy="1371600"/>
          </a:xfrm>
          <a:prstGeom prst="rect">
            <a:avLst/>
          </a:prstGeom>
          <a:noFill/>
          <a:ln/>
        </p:spPr>
        <p:txBody>
          <a:bodyPr wrap="square" lIns="0" tIns="0" rIns="0" bIns="0" rtlCol="0" anchor="ctr"/>
          <a:lstStyle/>
          <a:p>
            <a:pPr algn="ctr" indent="0" marL="0">
              <a:lnSpc>
                <a:spcPct val="120000"/>
              </a:lnSpc>
              <a:buNone/>
            </a:pPr>
            <a:r>
              <a:rPr lang="en-US" sz="1300" dirty="0">
                <a:solidFill>
                  <a:srgbClr val="1A2733"/>
                </a:solidFill>
                <a:latin typeface="Calibri" pitchFamily="34" charset="0"/>
                <a:ea typeface="Calibri" pitchFamily="34" charset="-122"/>
                <a:cs typeface="Calibri" pitchFamily="34" charset="-120"/>
              </a:rPr>
              <a:t>Change in segmented burn area over time</a:t>
            </a:r>
            <a:endParaRPr lang="en-US" sz="1300" dirty="0"/>
          </a:p>
        </p:txBody>
      </p:sp>
      <p:sp>
        <p:nvSpPr>
          <p:cNvPr id="17" name="Shape 15"/>
          <p:cNvSpPr/>
          <p:nvPr/>
        </p:nvSpPr>
        <p:spPr>
          <a:xfrm>
            <a:off x="4343400" y="3977640"/>
            <a:ext cx="3291840" cy="1371600"/>
          </a:xfrm>
          <a:prstGeom prst="roundRect">
            <a:avLst>
              <a:gd name="adj" fmla="val 6667"/>
            </a:avLst>
          </a:prstGeom>
          <a:solidFill>
            <a:srgbClr val="FFFFFF"/>
          </a:solidFill>
          <a:ln w="12700">
            <a:solidFill>
              <a:srgbClr val="DCE7EC"/>
            </a:solidFill>
            <a:prstDash val="solid"/>
          </a:ln>
        </p:spPr>
      </p:sp>
      <p:sp>
        <p:nvSpPr>
          <p:cNvPr id="18" name="Text 16"/>
          <p:cNvSpPr txBox="1"/>
          <p:nvPr/>
        </p:nvSpPr>
        <p:spPr>
          <a:xfrm>
            <a:off x="4526280" y="3977640"/>
            <a:ext cx="2926080" cy="1371600"/>
          </a:xfrm>
          <a:prstGeom prst="rect">
            <a:avLst/>
          </a:prstGeom>
          <a:noFill/>
          <a:ln/>
        </p:spPr>
        <p:txBody>
          <a:bodyPr wrap="square" lIns="0" tIns="0" rIns="0" bIns="0" rtlCol="0" anchor="ctr"/>
          <a:lstStyle/>
          <a:p>
            <a:pPr algn="ctr" indent="0" marL="0">
              <a:lnSpc>
                <a:spcPct val="120000"/>
              </a:lnSpc>
              <a:buNone/>
            </a:pPr>
            <a:r>
              <a:rPr lang="en-US" sz="1300" dirty="0">
                <a:solidFill>
                  <a:srgbClr val="1A2733"/>
                </a:solidFill>
                <a:latin typeface="Calibri" pitchFamily="34" charset="0"/>
                <a:ea typeface="Calibri" pitchFamily="34" charset="-122"/>
                <a:cs typeface="Calibri" pitchFamily="34" charset="-120"/>
              </a:rPr>
              <a:t>Visual healing indicators across the image sequence</a:t>
            </a:r>
            <a:endParaRPr lang="en-US" sz="1300" dirty="0"/>
          </a:p>
        </p:txBody>
      </p:sp>
      <p:sp>
        <p:nvSpPr>
          <p:cNvPr id="19" name="Shape 17"/>
          <p:cNvSpPr/>
          <p:nvPr/>
        </p:nvSpPr>
        <p:spPr>
          <a:xfrm>
            <a:off x="7863840" y="3977640"/>
            <a:ext cx="3291840" cy="1371600"/>
          </a:xfrm>
          <a:prstGeom prst="roundRect">
            <a:avLst>
              <a:gd name="adj" fmla="val 6667"/>
            </a:avLst>
          </a:prstGeom>
          <a:solidFill>
            <a:srgbClr val="FFFFFF"/>
          </a:solidFill>
          <a:ln w="12700">
            <a:solidFill>
              <a:srgbClr val="DCE7EC"/>
            </a:solidFill>
            <a:prstDash val="solid"/>
          </a:ln>
        </p:spPr>
      </p:sp>
      <p:sp>
        <p:nvSpPr>
          <p:cNvPr id="20" name="Text 18"/>
          <p:cNvSpPr txBox="1"/>
          <p:nvPr/>
        </p:nvSpPr>
        <p:spPr>
          <a:xfrm>
            <a:off x="8046720" y="3977640"/>
            <a:ext cx="2926080" cy="1371600"/>
          </a:xfrm>
          <a:prstGeom prst="rect">
            <a:avLst/>
          </a:prstGeom>
          <a:noFill/>
          <a:ln/>
        </p:spPr>
        <p:txBody>
          <a:bodyPr wrap="square" lIns="0" tIns="0" rIns="0" bIns="0" rtlCol="0" anchor="ctr"/>
          <a:lstStyle/>
          <a:p>
            <a:pPr algn="ctr" indent="0" marL="0">
              <a:lnSpc>
                <a:spcPct val="120000"/>
              </a:lnSpc>
              <a:buNone/>
            </a:pPr>
            <a:r>
              <a:rPr lang="en-US" sz="1300" dirty="0">
                <a:solidFill>
                  <a:srgbClr val="1A2733"/>
                </a:solidFill>
                <a:latin typeface="Calibri" pitchFamily="34" charset="0"/>
                <a:ea typeface="Calibri" pitchFamily="34" charset="-122"/>
                <a:cs typeface="Calibri" pitchFamily="34" charset="-120"/>
              </a:rPr>
              <a:t>A quantitative recovery trend for treatment evaluation</a:t>
            </a:r>
            <a:endParaRPr lang="en-US" sz="1300" dirty="0"/>
          </a:p>
        </p:txBody>
      </p:sp>
      <p:sp>
        <p:nvSpPr>
          <p:cNvPr id="21" name="Text 19"/>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5B7A8C"/>
                </a:solidFill>
                <a:latin typeface="Calibri" pitchFamily="34" charset="0"/>
                <a:ea typeface="Calibri" pitchFamily="34" charset="-122"/>
                <a:cs typeface="Calibri" pitchFamily="34" charset="-120"/>
              </a:rPr>
              <a:t>GIKI FCSE  |  Title Defence  |  Abdur Rehman — lead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65A82"/>
          </a:solidFill>
          <a:ln/>
        </p:spPr>
      </p:sp>
      <p:sp>
        <p:nvSpPr>
          <p:cNvPr id="3" name="Text 1"/>
          <p:cNvSpPr txBox="1"/>
          <p:nvPr/>
        </p:nvSpPr>
        <p:spPr>
          <a:xfrm>
            <a:off x="457200" y="41148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a:t>
            </a:r>
            <a:endParaRPr lang="en-US" sz="2000" dirty="0"/>
          </a:p>
        </p:txBody>
      </p:sp>
      <p:sp>
        <p:nvSpPr>
          <p:cNvPr id="4" name="Text 2"/>
          <p:cNvSpPr txBox="1"/>
          <p:nvPr/>
        </p:nvSpPr>
        <p:spPr>
          <a:xfrm>
            <a:off x="1051560" y="347472"/>
            <a:ext cx="10241280" cy="594360"/>
          </a:xfrm>
          <a:prstGeom prst="rect">
            <a:avLst/>
          </a:prstGeom>
          <a:noFill/>
          <a:ln/>
        </p:spPr>
        <p:txBody>
          <a:bodyPr wrap="square" lIns="0" tIns="0" rIns="0" bIns="0" rtlCol="0" anchor="ctr"/>
          <a:lstStyle/>
          <a:p>
            <a:pPr indent="0" marL="0">
              <a:buNone/>
            </a:pPr>
            <a:r>
              <a:rPr lang="en-US" sz="2800" b="1" dirty="0">
                <a:solidFill>
                  <a:srgbClr val="1A2733"/>
                </a:solidFill>
                <a:latin typeface="Cambria" pitchFamily="34" charset="0"/>
                <a:ea typeface="Cambria" pitchFamily="34" charset="-122"/>
                <a:cs typeface="Cambria" pitchFamily="34" charset="-120"/>
              </a:rPr>
              <a:t>Scope of This Project</a:t>
            </a:r>
            <a:endParaRPr lang="en-US" sz="2800" dirty="0"/>
          </a:p>
        </p:txBody>
      </p:sp>
      <p:sp>
        <p:nvSpPr>
          <p:cNvPr id="5" name="Shape 3"/>
          <p:cNvSpPr/>
          <p:nvPr/>
        </p:nvSpPr>
        <p:spPr>
          <a:xfrm>
            <a:off x="502920" y="1554480"/>
            <a:ext cx="5394960" cy="4023360"/>
          </a:xfrm>
          <a:prstGeom prst="roundRect">
            <a:avLst>
              <a:gd name="adj" fmla="val 2273"/>
            </a:avLst>
          </a:prstGeom>
          <a:solidFill>
            <a:srgbClr val="EAF6F0"/>
          </a:solidFill>
          <a:ln/>
        </p:spPr>
      </p:sp>
      <p:sp>
        <p:nvSpPr>
          <p:cNvPr id="6" name="Text 4"/>
          <p:cNvSpPr txBox="1"/>
          <p:nvPr/>
        </p:nvSpPr>
        <p:spPr>
          <a:xfrm>
            <a:off x="822960" y="1783080"/>
            <a:ext cx="4572000" cy="411480"/>
          </a:xfrm>
          <a:prstGeom prst="rect">
            <a:avLst/>
          </a:prstGeom>
          <a:noFill/>
          <a:ln/>
        </p:spPr>
        <p:txBody>
          <a:bodyPr wrap="square" lIns="0" tIns="0" rIns="0" bIns="0"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IN SCOPE</a:t>
            </a:r>
            <a:endParaRPr lang="en-US" sz="1500" dirty="0"/>
          </a:p>
        </p:txBody>
      </p:sp>
      <p:sp>
        <p:nvSpPr>
          <p:cNvPr id="7" name="Text 5"/>
          <p:cNvSpPr txBox="1"/>
          <p:nvPr/>
        </p:nvSpPr>
        <p:spPr>
          <a:xfrm>
            <a:off x="868680" y="2286000"/>
            <a:ext cx="4846320" cy="502920"/>
          </a:xfrm>
          <a:prstGeom prst="rect">
            <a:avLst/>
          </a:prstGeom>
          <a:noFill/>
          <a:ln/>
        </p:spPr>
        <p:txBody>
          <a:bodyPr wrap="square" lIns="0" tIns="0" rIns="0" bIns="0" rtlCol="0" anchor="ctr"/>
          <a:lstStyle/>
          <a:p>
            <a:pPr indent="0" marL="0">
              <a:buNone/>
            </a:pPr>
            <a:r>
              <a:rPr lang="en-US" sz="1350" dirty="0">
                <a:solidFill>
                  <a:srgbClr val="1A2733"/>
                </a:solidFill>
                <a:latin typeface="Calibri" pitchFamily="34" charset="0"/>
                <a:ea typeface="Calibri" pitchFamily="34" charset="-122"/>
                <a:cs typeface="Calibri" pitchFamily="34" charset="-120"/>
              </a:rPr>
              <a:t>✓  Prototype-level system</a:t>
            </a:r>
            <a:endParaRPr lang="en-US" sz="1350" dirty="0"/>
          </a:p>
        </p:txBody>
      </p:sp>
      <p:sp>
        <p:nvSpPr>
          <p:cNvPr id="8" name="Text 6"/>
          <p:cNvSpPr txBox="1"/>
          <p:nvPr/>
        </p:nvSpPr>
        <p:spPr>
          <a:xfrm>
            <a:off x="868680" y="2852928"/>
            <a:ext cx="4846320" cy="502920"/>
          </a:xfrm>
          <a:prstGeom prst="rect">
            <a:avLst/>
          </a:prstGeom>
          <a:noFill/>
          <a:ln/>
        </p:spPr>
        <p:txBody>
          <a:bodyPr wrap="square" lIns="0" tIns="0" rIns="0" bIns="0" rtlCol="0" anchor="ctr"/>
          <a:lstStyle/>
          <a:p>
            <a:pPr indent="0" marL="0">
              <a:buNone/>
            </a:pPr>
            <a:r>
              <a:rPr lang="en-US" sz="1350" dirty="0">
                <a:solidFill>
                  <a:srgbClr val="1A2733"/>
                </a:solidFill>
                <a:latin typeface="Calibri" pitchFamily="34" charset="0"/>
                <a:ea typeface="Calibri" pitchFamily="34" charset="-122"/>
                <a:cs typeface="Calibri" pitchFamily="34" charset="-120"/>
              </a:rPr>
              <a:t>✓  Pre-collected / publicly available datasets</a:t>
            </a:r>
            <a:endParaRPr lang="en-US" sz="1350" dirty="0"/>
          </a:p>
        </p:txBody>
      </p:sp>
      <p:sp>
        <p:nvSpPr>
          <p:cNvPr id="9" name="Text 7"/>
          <p:cNvSpPr txBox="1"/>
          <p:nvPr/>
        </p:nvSpPr>
        <p:spPr>
          <a:xfrm>
            <a:off x="868680" y="3419856"/>
            <a:ext cx="4846320" cy="502920"/>
          </a:xfrm>
          <a:prstGeom prst="rect">
            <a:avLst/>
          </a:prstGeom>
          <a:noFill/>
          <a:ln/>
        </p:spPr>
        <p:txBody>
          <a:bodyPr wrap="square" lIns="0" tIns="0" rIns="0" bIns="0" rtlCol="0" anchor="ctr"/>
          <a:lstStyle/>
          <a:p>
            <a:pPr indent="0" marL="0">
              <a:buNone/>
            </a:pPr>
            <a:r>
              <a:rPr lang="en-US" sz="1350" dirty="0">
                <a:solidFill>
                  <a:srgbClr val="1A2733"/>
                </a:solidFill>
                <a:latin typeface="Calibri" pitchFamily="34" charset="0"/>
                <a:ea typeface="Calibri" pitchFamily="34" charset="-122"/>
                <a:cs typeface="Calibri" pitchFamily="34" charset="-120"/>
              </a:rPr>
              <a:t>✓  Image-based classification &amp; segmentation</a:t>
            </a:r>
            <a:endParaRPr lang="en-US" sz="1350" dirty="0"/>
          </a:p>
        </p:txBody>
      </p:sp>
      <p:sp>
        <p:nvSpPr>
          <p:cNvPr id="10" name="Text 8"/>
          <p:cNvSpPr txBox="1"/>
          <p:nvPr/>
        </p:nvSpPr>
        <p:spPr>
          <a:xfrm>
            <a:off x="868680" y="3986784"/>
            <a:ext cx="4846320" cy="502920"/>
          </a:xfrm>
          <a:prstGeom prst="rect">
            <a:avLst/>
          </a:prstGeom>
          <a:noFill/>
          <a:ln/>
        </p:spPr>
        <p:txBody>
          <a:bodyPr wrap="square" lIns="0" tIns="0" rIns="0" bIns="0" rtlCol="0" anchor="ctr"/>
          <a:lstStyle/>
          <a:p>
            <a:pPr indent="0" marL="0">
              <a:buNone/>
            </a:pPr>
            <a:r>
              <a:rPr lang="en-US" sz="1350" dirty="0">
                <a:solidFill>
                  <a:srgbClr val="1A2733"/>
                </a:solidFill>
                <a:latin typeface="Calibri" pitchFamily="34" charset="0"/>
                <a:ea typeface="Calibri" pitchFamily="34" charset="-122"/>
                <a:cs typeface="Calibri" pitchFamily="34" charset="-120"/>
              </a:rPr>
              <a:t>✓  Severity estimation &amp; VLM reporting</a:t>
            </a:r>
            <a:endParaRPr lang="en-US" sz="1350" dirty="0"/>
          </a:p>
        </p:txBody>
      </p:sp>
      <p:sp>
        <p:nvSpPr>
          <p:cNvPr id="11" name="Text 9"/>
          <p:cNvSpPr txBox="1"/>
          <p:nvPr/>
        </p:nvSpPr>
        <p:spPr>
          <a:xfrm>
            <a:off x="868680" y="4553712"/>
            <a:ext cx="4846320" cy="502920"/>
          </a:xfrm>
          <a:prstGeom prst="rect">
            <a:avLst/>
          </a:prstGeom>
          <a:noFill/>
          <a:ln/>
        </p:spPr>
        <p:txBody>
          <a:bodyPr wrap="square" lIns="0" tIns="0" rIns="0" bIns="0" rtlCol="0" anchor="ctr"/>
          <a:lstStyle/>
          <a:p>
            <a:pPr indent="0" marL="0">
              <a:buNone/>
            </a:pPr>
            <a:r>
              <a:rPr lang="en-US" sz="1350" dirty="0">
                <a:solidFill>
                  <a:srgbClr val="1A2733"/>
                </a:solidFill>
                <a:latin typeface="Calibri" pitchFamily="34" charset="0"/>
                <a:ea typeface="Calibri" pitchFamily="34" charset="-122"/>
                <a:cs typeface="Calibri" pitchFamily="34" charset="-120"/>
              </a:rPr>
              <a:t>✓  Longitudinal recovery analysis</a:t>
            </a:r>
            <a:endParaRPr lang="en-US" sz="1350" dirty="0"/>
          </a:p>
        </p:txBody>
      </p:sp>
      <p:sp>
        <p:nvSpPr>
          <p:cNvPr id="12" name="Shape 10"/>
          <p:cNvSpPr/>
          <p:nvPr/>
        </p:nvSpPr>
        <p:spPr>
          <a:xfrm>
            <a:off x="6172200" y="1554480"/>
            <a:ext cx="5394960" cy="4023360"/>
          </a:xfrm>
          <a:prstGeom prst="roundRect">
            <a:avLst>
              <a:gd name="adj" fmla="val 2273"/>
            </a:avLst>
          </a:prstGeom>
          <a:solidFill>
            <a:srgbClr val="FBEEE7"/>
          </a:solidFill>
          <a:ln/>
        </p:spPr>
      </p:sp>
      <p:sp>
        <p:nvSpPr>
          <p:cNvPr id="13" name="Text 11"/>
          <p:cNvSpPr txBox="1"/>
          <p:nvPr/>
        </p:nvSpPr>
        <p:spPr>
          <a:xfrm>
            <a:off x="6492240" y="1783080"/>
            <a:ext cx="4572000" cy="411480"/>
          </a:xfrm>
          <a:prstGeom prst="rect">
            <a:avLst/>
          </a:prstGeom>
          <a:noFill/>
          <a:ln/>
        </p:spPr>
        <p:txBody>
          <a:bodyPr wrap="square" lIns="0" tIns="0" rIns="0" bIns="0" rtlCol="0" anchor="ctr"/>
          <a:lstStyle/>
          <a:p>
            <a:pPr indent="0" marL="0">
              <a:buNone/>
            </a:pPr>
            <a:r>
              <a:rPr lang="en-US" sz="1500" b="1" dirty="0">
                <a:solidFill>
                  <a:srgbClr val="B85042"/>
                </a:solidFill>
                <a:latin typeface="Calibri" pitchFamily="34" charset="0"/>
                <a:ea typeface="Calibri" pitchFamily="34" charset="-122"/>
                <a:cs typeface="Calibri" pitchFamily="34" charset="-120"/>
              </a:rPr>
              <a:t>OUT OF SCOPE</a:t>
            </a:r>
            <a:endParaRPr lang="en-US" sz="1500" dirty="0"/>
          </a:p>
        </p:txBody>
      </p:sp>
      <p:sp>
        <p:nvSpPr>
          <p:cNvPr id="14" name="Text 12"/>
          <p:cNvSpPr txBox="1"/>
          <p:nvPr/>
        </p:nvSpPr>
        <p:spPr>
          <a:xfrm>
            <a:off x="6537960" y="2286000"/>
            <a:ext cx="4846320" cy="502920"/>
          </a:xfrm>
          <a:prstGeom prst="rect">
            <a:avLst/>
          </a:prstGeom>
          <a:noFill/>
          <a:ln/>
        </p:spPr>
        <p:txBody>
          <a:bodyPr wrap="square" lIns="0" tIns="0" rIns="0" bIns="0" rtlCol="0" anchor="ctr"/>
          <a:lstStyle/>
          <a:p>
            <a:pPr indent="0" marL="0">
              <a:buNone/>
            </a:pPr>
            <a:r>
              <a:rPr lang="en-US" sz="1350" dirty="0">
                <a:solidFill>
                  <a:srgbClr val="1A2733"/>
                </a:solidFill>
                <a:latin typeface="Calibri" pitchFamily="34" charset="0"/>
                <a:ea typeface="Calibri" pitchFamily="34" charset="-122"/>
                <a:cs typeface="Calibri" pitchFamily="34" charset="-120"/>
              </a:rPr>
              <a:t>✗  Real-time clinical deployment</a:t>
            </a:r>
            <a:endParaRPr lang="en-US" sz="1350" dirty="0"/>
          </a:p>
        </p:txBody>
      </p:sp>
      <p:sp>
        <p:nvSpPr>
          <p:cNvPr id="15" name="Text 13"/>
          <p:cNvSpPr txBox="1"/>
          <p:nvPr/>
        </p:nvSpPr>
        <p:spPr>
          <a:xfrm>
            <a:off x="6537960" y="2852928"/>
            <a:ext cx="4846320" cy="502920"/>
          </a:xfrm>
          <a:prstGeom prst="rect">
            <a:avLst/>
          </a:prstGeom>
          <a:noFill/>
          <a:ln/>
        </p:spPr>
        <p:txBody>
          <a:bodyPr wrap="square" lIns="0" tIns="0" rIns="0" bIns="0" rtlCol="0" anchor="ctr"/>
          <a:lstStyle/>
          <a:p>
            <a:pPr indent="0" marL="0">
              <a:buNone/>
            </a:pPr>
            <a:r>
              <a:rPr lang="en-US" sz="1350" dirty="0">
                <a:solidFill>
                  <a:srgbClr val="1A2733"/>
                </a:solidFill>
                <a:latin typeface="Calibri" pitchFamily="34" charset="0"/>
                <a:ea typeface="Calibri" pitchFamily="34" charset="-122"/>
                <a:cs typeface="Calibri" pitchFamily="34" charset="-120"/>
              </a:rPr>
              <a:t>✗  Integration with hospital systems</a:t>
            </a:r>
            <a:endParaRPr lang="en-US" sz="1350" dirty="0"/>
          </a:p>
        </p:txBody>
      </p:sp>
      <p:sp>
        <p:nvSpPr>
          <p:cNvPr id="16" name="Text 14"/>
          <p:cNvSpPr txBox="1"/>
          <p:nvPr/>
        </p:nvSpPr>
        <p:spPr>
          <a:xfrm>
            <a:off x="6537960" y="3419856"/>
            <a:ext cx="4846320" cy="502920"/>
          </a:xfrm>
          <a:prstGeom prst="rect">
            <a:avLst/>
          </a:prstGeom>
          <a:noFill/>
          <a:ln/>
        </p:spPr>
        <p:txBody>
          <a:bodyPr wrap="square" lIns="0" tIns="0" rIns="0" bIns="0" rtlCol="0" anchor="ctr"/>
          <a:lstStyle/>
          <a:p>
            <a:pPr indent="0" marL="0">
              <a:buNone/>
            </a:pPr>
            <a:r>
              <a:rPr lang="en-US" sz="1350" dirty="0">
                <a:solidFill>
                  <a:srgbClr val="1A2733"/>
                </a:solidFill>
                <a:latin typeface="Calibri" pitchFamily="34" charset="0"/>
                <a:ea typeface="Calibri" pitchFamily="34" charset="-122"/>
                <a:cs typeface="Calibri" pitchFamily="34" charset="-120"/>
              </a:rPr>
              <a:t>✗  Regulatory / medical-device validation</a:t>
            </a:r>
            <a:endParaRPr lang="en-US" sz="1350" dirty="0"/>
          </a:p>
        </p:txBody>
      </p:sp>
      <p:sp>
        <p:nvSpPr>
          <p:cNvPr id="17" name="Text 15"/>
          <p:cNvSpPr txBox="1"/>
          <p:nvPr/>
        </p:nvSpPr>
        <p:spPr>
          <a:xfrm>
            <a:off x="6537960" y="3986784"/>
            <a:ext cx="4846320" cy="502920"/>
          </a:xfrm>
          <a:prstGeom prst="rect">
            <a:avLst/>
          </a:prstGeom>
          <a:noFill/>
          <a:ln/>
        </p:spPr>
        <p:txBody>
          <a:bodyPr wrap="square" lIns="0" tIns="0" rIns="0" bIns="0" rtlCol="0" anchor="ctr"/>
          <a:lstStyle/>
          <a:p>
            <a:pPr indent="0" marL="0">
              <a:buNone/>
            </a:pPr>
            <a:r>
              <a:rPr lang="en-US" sz="1350" dirty="0">
                <a:solidFill>
                  <a:srgbClr val="1A2733"/>
                </a:solidFill>
                <a:latin typeface="Calibri" pitchFamily="34" charset="0"/>
                <a:ea typeface="Calibri" pitchFamily="34" charset="-122"/>
                <a:cs typeface="Calibri" pitchFamily="34" charset="-120"/>
              </a:rPr>
              <a:t>✗  Replacing clinical judgment</a:t>
            </a:r>
            <a:endParaRPr lang="en-US" sz="1350" dirty="0"/>
          </a:p>
        </p:txBody>
      </p:sp>
      <p:sp>
        <p:nvSpPr>
          <p:cNvPr id="18" name="Text 16"/>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5B7A8C"/>
                </a:solidFill>
                <a:latin typeface="Calibri" pitchFamily="34" charset="0"/>
                <a:ea typeface="Calibri" pitchFamily="34" charset="-122"/>
                <a:cs typeface="Calibri" pitchFamily="34" charset="-120"/>
              </a:rPr>
              <a:t>GIKI FCSE  |  Title Defence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A45"/>
        </a:solidFill>
      </p:bgPr>
    </p:bg>
    <p:spTree>
      <p:nvGrpSpPr>
        <p:cNvPr id="1" name=""/>
        <p:cNvGrpSpPr/>
        <p:nvPr/>
      </p:nvGrpSpPr>
      <p:grpSpPr>
        <a:xfrm>
          <a:off x="0" y="0"/>
          <a:ext cx="0" cy="0"/>
          <a:chOff x="0" y="0"/>
          <a:chExt cx="0" cy="0"/>
        </a:xfrm>
      </p:grpSpPr>
      <p:sp>
        <p:nvSpPr>
          <p:cNvPr id="2" name="Shape 0"/>
          <p:cNvSpPr/>
          <p:nvPr/>
        </p:nvSpPr>
        <p:spPr>
          <a:xfrm>
            <a:off x="8686800" y="4114800"/>
            <a:ext cx="5029200" cy="5029200"/>
          </a:xfrm>
          <a:prstGeom prst="ellipse">
            <a:avLst/>
          </a:prstGeom>
          <a:solidFill>
            <a:srgbClr val="065A82">
              <a:alpha val="50000"/>
            </a:srgbClr>
          </a:solidFill>
          <a:ln/>
        </p:spPr>
      </p:sp>
      <p:sp>
        <p:nvSpPr>
          <p:cNvPr id="3" name="Text 1"/>
          <p:cNvSpPr txBox="1"/>
          <p:nvPr/>
        </p:nvSpPr>
        <p:spPr>
          <a:xfrm>
            <a:off x="822960" y="822960"/>
            <a:ext cx="10515600" cy="914400"/>
          </a:xfrm>
          <a:prstGeom prst="rect">
            <a:avLst/>
          </a:prstGeom>
          <a:noFill/>
          <a:ln/>
        </p:spPr>
        <p:txBody>
          <a:bodyPr wrap="square" lIns="0" tIns="0" rIns="0" bIns="0" rtlCol="0" anchor="ctr"/>
          <a:lstStyle/>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A Single Platform for Burn Assessment &amp; Recovery</a:t>
            </a:r>
            <a:endParaRPr lang="en-US" sz="3000" dirty="0"/>
          </a:p>
        </p:txBody>
      </p:sp>
      <p:sp>
        <p:nvSpPr>
          <p:cNvPr id="4" name="Shape 2"/>
          <p:cNvSpPr/>
          <p:nvPr/>
        </p:nvSpPr>
        <p:spPr>
          <a:xfrm>
            <a:off x="868680" y="1783080"/>
            <a:ext cx="2926080" cy="0"/>
          </a:xfrm>
          <a:prstGeom prst="line">
            <a:avLst/>
          </a:prstGeom>
          <a:noFill/>
          <a:ln w="38100">
            <a:solidFill>
              <a:srgbClr val="E8871E"/>
            </a:solidFill>
            <a:prstDash val="solid"/>
          </a:ln>
        </p:spPr>
      </p:sp>
      <p:sp>
        <p:nvSpPr>
          <p:cNvPr id="5" name="Text 3"/>
          <p:cNvSpPr txBox="1"/>
          <p:nvPr/>
        </p:nvSpPr>
        <p:spPr>
          <a:xfrm>
            <a:off x="822960" y="2103120"/>
            <a:ext cx="9601200" cy="1005840"/>
          </a:xfrm>
          <a:prstGeom prst="rect">
            <a:avLst/>
          </a:prstGeom>
          <a:noFill/>
          <a:ln/>
        </p:spPr>
        <p:txBody>
          <a:bodyPr wrap="square" lIns="0" tIns="0" rIns="0" bIns="0" rtlCol="0" anchor="ctr"/>
          <a:lstStyle/>
          <a:p>
            <a:pPr indent="0" marL="0">
              <a:lnSpc>
                <a:spcPct val="130000"/>
              </a:lnSpc>
              <a:buNone/>
            </a:pPr>
            <a:r>
              <a:rPr lang="en-US" sz="1600" dirty="0">
                <a:solidFill>
                  <a:srgbClr val="D7E9F2"/>
                </a:solidFill>
                <a:latin typeface="Calibri" pitchFamily="34" charset="0"/>
                <a:ea typeface="Calibri" pitchFamily="34" charset="-122"/>
                <a:cs typeface="Calibri" pitchFamily="34" charset="-120"/>
              </a:rPr>
              <a:t>Classification  ·  Segmentation  ·  Severity Scoring  ·  Recovery Monitoring — unified through AI-generated clinical reporting, built for resource-constrained healthcare settings.</a:t>
            </a:r>
            <a:endParaRPr lang="en-US" sz="1600" dirty="0"/>
          </a:p>
        </p:txBody>
      </p:sp>
      <p:sp>
        <p:nvSpPr>
          <p:cNvPr id="6" name="Text 4"/>
          <p:cNvSpPr txBox="1"/>
          <p:nvPr/>
        </p:nvSpPr>
        <p:spPr>
          <a:xfrm>
            <a:off x="822960" y="4937760"/>
            <a:ext cx="7315200" cy="548640"/>
          </a:xfrm>
          <a:prstGeom prst="rect">
            <a:avLst/>
          </a:prstGeom>
          <a:noFill/>
          <a:ln/>
        </p:spPr>
        <p:txBody>
          <a:bodyPr wrap="square" lIns="0" tIns="0" rIns="0" bIns="0" rtlCol="0" anchor="ctr"/>
          <a:lstStyle/>
          <a:p>
            <a:pPr indent="0" marL="0">
              <a:buNone/>
            </a:pPr>
            <a:r>
              <a:rPr lang="en-US" sz="1900" i="1" dirty="0">
                <a:solidFill>
                  <a:srgbClr val="FFFFFF"/>
                </a:solidFill>
                <a:latin typeface="Cambria" pitchFamily="34" charset="0"/>
                <a:ea typeface="Cambria" pitchFamily="34" charset="-122"/>
                <a:cs typeface="Cambria" pitchFamily="34" charset="-120"/>
              </a:rPr>
              <a:t>Thank you. We welcome your questions.</a:t>
            </a:r>
            <a:endParaRPr lang="en-US" sz="19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411480"/>
            <a:ext cx="457200" cy="45720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457200" cy="457200"/>
          </a:xfrm>
          <a:prstGeom prst="rect">
            <a:avLst/>
          </a:prstGeom>
          <a:noFill/>
        </p:spPr>
        <p:txBody>
          <a:bodyPr wrap="square" anchor="ctr"/>
          <a:lstStyle/>
          <a:p>
            <a:pPr algn="ctr">
              <a:spcBef>
                <a:spcPts val="0"/>
              </a:spcBef>
              <a:spcAft>
                <a:spcPts val="0"/>
              </a:spcAft>
            </a:pPr>
            <a:r>
              <a:rPr sz="2000" b="1" i="0">
                <a:solidFill>
                  <a:srgbClr val="FFFFFF"/>
                </a:solidFill>
                <a:latin typeface="Arial"/>
              </a:rPr>
              <a:t>L</a:t>
            </a:r>
          </a:p>
        </p:txBody>
      </p:sp>
      <p:sp>
        <p:nvSpPr>
          <p:cNvPr id="4" name="TextBox 3"/>
          <p:cNvSpPr txBox="1"/>
          <p:nvPr/>
        </p:nvSpPr>
        <p:spPr>
          <a:xfrm>
            <a:off x="1051560" y="347472"/>
            <a:ext cx="10241280" cy="594360"/>
          </a:xfrm>
          <a:prstGeom prst="rect">
            <a:avLst/>
          </a:prstGeom>
          <a:noFill/>
        </p:spPr>
        <p:txBody>
          <a:bodyPr wrap="square" anchor="ctr"/>
          <a:lstStyle/>
          <a:p>
            <a:pPr algn="l">
              <a:spcBef>
                <a:spcPts val="0"/>
              </a:spcBef>
              <a:spcAft>
                <a:spcPts val="0"/>
              </a:spcAft>
            </a:pPr>
            <a:r>
              <a:rPr sz="2800" b="1" i="0">
                <a:solidFill>
                  <a:srgbClr val="1A2733"/>
                </a:solidFill>
                <a:latin typeface="Cambria"/>
              </a:rPr>
              <a:t>Literature Review</a:t>
            </a:r>
          </a:p>
        </p:txBody>
      </p:sp>
      <p:sp>
        <p:nvSpPr>
          <p:cNvPr id="5" name="TextBox 4"/>
          <p:cNvSpPr txBox="1"/>
          <p:nvPr/>
        </p:nvSpPr>
        <p:spPr>
          <a:xfrm>
            <a:off x="457200" y="6510528"/>
            <a:ext cx="7315200" cy="274320"/>
          </a:xfrm>
          <a:prstGeom prst="rect">
            <a:avLst/>
          </a:prstGeom>
          <a:noFill/>
        </p:spPr>
        <p:txBody>
          <a:bodyPr wrap="square" anchor="t"/>
          <a:lstStyle/>
          <a:p>
            <a:pPr algn="l">
              <a:spcBef>
                <a:spcPts val="0"/>
              </a:spcBef>
              <a:spcAft>
                <a:spcPts val="0"/>
              </a:spcAft>
            </a:pPr>
            <a:r>
              <a:rPr sz="1000" b="0" i="0">
                <a:solidFill>
                  <a:srgbClr val="5B7A8C"/>
                </a:solidFill>
                <a:latin typeface="Calibri"/>
              </a:rPr>
              <a:t>GIKI FCSE  |  Title Defence</a:t>
            </a:r>
          </a:p>
        </p:txBody>
      </p:sp>
      <p:sp>
        <p:nvSpPr>
          <p:cNvPr id="6" name="TextBox 5"/>
          <p:cNvSpPr txBox="1"/>
          <p:nvPr/>
        </p:nvSpPr>
        <p:spPr>
          <a:xfrm>
            <a:off x="1051560" y="841248"/>
            <a:ext cx="10241280" cy="292608"/>
          </a:xfrm>
          <a:prstGeom prst="rect">
            <a:avLst/>
          </a:prstGeom>
          <a:noFill/>
        </p:spPr>
        <p:txBody>
          <a:bodyPr wrap="square" anchor="t"/>
          <a:lstStyle/>
          <a:p>
            <a:pPr algn="l">
              <a:spcBef>
                <a:spcPts val="0"/>
              </a:spcBef>
              <a:spcAft>
                <a:spcPts val="0"/>
              </a:spcAft>
            </a:pPr>
            <a:r>
              <a:rPr sz="1300" b="0" i="0">
                <a:solidFill>
                  <a:srgbClr val="1C7293"/>
                </a:solidFill>
                <a:latin typeface="Calibri"/>
              </a:rPr>
              <a:t>Classification and severity assessment</a:t>
            </a:r>
          </a:p>
        </p:txBody>
      </p:sp>
      <p:graphicFrame>
        <p:nvGraphicFramePr>
          <p:cNvPr id="7" name="Table 6"/>
          <p:cNvGraphicFramePr>
            <a:graphicFrameLocks noGrp="1"/>
          </p:cNvGraphicFramePr>
          <p:nvPr/>
        </p:nvGraphicFramePr>
        <p:xfrm>
          <a:off x="411480" y="1170432"/>
          <a:ext cx="11338560" cy="4434840"/>
        </p:xfrm>
        <a:graphic>
          <a:graphicData uri="http://schemas.openxmlformats.org/drawingml/2006/table">
            <a:tbl>
              <a:tblPr firstRow="1" bandRow="1">
                <a:tableStyleId>{5C22544A-7EE6-4342-B048-85BDC9FD1C3A}</a:tableStyleId>
              </a:tblPr>
              <a:tblGrid>
                <a:gridCol w="2331720"/>
                <a:gridCol w="3154680"/>
                <a:gridCol w="2880360"/>
                <a:gridCol w="2971800"/>
              </a:tblGrid>
              <a:tr h="438912">
                <a:tc>
                  <a:txBody>
                    <a:bodyPr wrap="square"/>
                    <a:lstStyle/>
                    <a:p>
                      <a:pPr algn="ctr">
                        <a:spcBef>
                          <a:spcPts val="0"/>
                        </a:spcBef>
                        <a:spcAft>
                          <a:spcPts val="100"/>
                        </a:spcAft>
                      </a:pPr>
                      <a:r>
                        <a:rPr sz="1200" b="1" i="0">
                          <a:solidFill>
                            <a:srgbClr val="FFFFFF"/>
                          </a:solidFill>
                          <a:latin typeface="Calibri"/>
                        </a:rPr>
                        <a:t>Prior Work</a:t>
                      </a:r>
                    </a:p>
                  </a:txBody>
                  <a:tcPr marL="60000" marR="60000" marT="40000" marB="40000" anchor="ctr">
                    <a:solidFill>
                      <a:srgbClr val="065A82"/>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ctr">
                        <a:spcBef>
                          <a:spcPts val="0"/>
                        </a:spcBef>
                        <a:spcAft>
                          <a:spcPts val="100"/>
                        </a:spcAft>
                      </a:pPr>
                      <a:r>
                        <a:rPr sz="1200" b="1" i="0">
                          <a:solidFill>
                            <a:srgbClr val="FFFFFF"/>
                          </a:solidFill>
                          <a:latin typeface="Calibri"/>
                        </a:rPr>
                        <a:t>Method</a:t>
                      </a:r>
                    </a:p>
                  </a:txBody>
                  <a:tcPr marL="60000" marR="60000" marT="40000" marB="40000" anchor="ctr">
                    <a:solidFill>
                      <a:srgbClr val="065A82"/>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ctr">
                        <a:spcBef>
                          <a:spcPts val="0"/>
                        </a:spcBef>
                        <a:spcAft>
                          <a:spcPts val="100"/>
                        </a:spcAft>
                      </a:pPr>
                      <a:r>
                        <a:rPr sz="1200" b="1" i="0">
                          <a:solidFill>
                            <a:srgbClr val="FFFFFF"/>
                          </a:solidFill>
                          <a:latin typeface="Calibri"/>
                        </a:rPr>
                        <a:t>Result</a:t>
                      </a:r>
                    </a:p>
                  </a:txBody>
                  <a:tcPr marL="60000" marR="60000" marT="40000" marB="40000" anchor="ctr">
                    <a:solidFill>
                      <a:srgbClr val="065A82"/>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ctr">
                        <a:spcBef>
                          <a:spcPts val="0"/>
                        </a:spcBef>
                        <a:spcAft>
                          <a:spcPts val="100"/>
                        </a:spcAft>
                      </a:pPr>
                      <a:r>
                        <a:rPr sz="1200" b="1" i="0">
                          <a:solidFill>
                            <a:srgbClr val="FFFFFF"/>
                          </a:solidFill>
                          <a:latin typeface="Calibri"/>
                        </a:rPr>
                        <a:t>Key Limitation</a:t>
                      </a:r>
                    </a:p>
                  </a:txBody>
                  <a:tcPr marL="60000" marR="60000" marT="40000" marB="40000" anchor="ctr">
                    <a:solidFill>
                      <a:srgbClr val="065A82"/>
                    </a:solidFill>
                    <a:lnL w="6350">
                      <a:solidFill>
                        <a:srgbClr val="DCE7EC"/>
                      </a:solidFill>
                    </a:lnL>
                    <a:lnR w="6350">
                      <a:solidFill>
                        <a:srgbClr val="DCE7EC"/>
                      </a:solidFill>
                    </a:lnR>
                    <a:lnT w="6350">
                      <a:solidFill>
                        <a:srgbClr val="DCE7EC"/>
                      </a:solidFill>
                    </a:lnT>
                    <a:lnB w="6350">
                      <a:solidFill>
                        <a:srgbClr val="DCE7EC"/>
                      </a:solidFill>
                    </a:lnB>
                  </a:tcPr>
                </a:tc>
              </a:tr>
              <a:tr h="1331976">
                <a:tc>
                  <a:txBody>
                    <a:bodyPr wrap="square"/>
                    <a:lstStyle/>
                    <a:p>
                      <a:pPr algn="l">
                        <a:spcBef>
                          <a:spcPts val="0"/>
                        </a:spcBef>
                        <a:spcAft>
                          <a:spcPts val="100"/>
                        </a:spcAft>
                      </a:pPr>
                      <a:r>
                        <a:rPr sz="1100" b="1" i="0">
                          <a:solidFill>
                            <a:srgbClr val="1A2733"/>
                          </a:solidFill>
                          <a:latin typeface="Calibri"/>
                        </a:rPr>
                        <a:t>[1] Yadav et al., 2019</a:t>
                      </a:r>
                    </a:p>
                    <a:p>
                      <a:pPr algn="l">
                        <a:spcBef>
                          <a:spcPts val="0"/>
                        </a:spcBef>
                        <a:spcAft>
                          <a:spcPts val="100"/>
                        </a:spcAft>
                      </a:pPr>
                      <a:r>
                        <a:rPr sz="1000" b="0" i="0">
                          <a:solidFill>
                            <a:srgbClr val="5B7A8C"/>
                          </a:solidFill>
                          <a:latin typeface="Calibri"/>
                        </a:rPr>
                        <a:t>IEEE J. Transl. Eng. Health Med.</a:t>
                      </a:r>
                    </a:p>
                  </a:txBody>
                  <a:tcPr marL="60000" marR="60000" marT="40000" marB="40000" anchor="ctr">
                    <a:solidFill>
                      <a:srgbClr val="FFFFFF"/>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l">
                        <a:spcBef>
                          <a:spcPts val="0"/>
                        </a:spcBef>
                        <a:spcAft>
                          <a:spcPts val="100"/>
                        </a:spcAft>
                      </a:pPr>
                      <a:r>
                        <a:rPr sz="1100" b="0" i="0">
                          <a:solidFill>
                            <a:srgbClr val="1A2733"/>
                          </a:solidFill>
                          <a:latin typeface="Calibri"/>
                        </a:rPr>
                        <a:t>Color / texture features + SVM on the BIP_US burn image set; graft vs non-graft decision.</a:t>
                      </a:r>
                    </a:p>
                  </a:txBody>
                  <a:tcPr marL="60000" marR="60000" marT="40000" marB="40000" anchor="ctr">
                    <a:solidFill>
                      <a:srgbClr val="FFFFFF"/>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l">
                        <a:spcBef>
                          <a:spcPts val="0"/>
                        </a:spcBef>
                        <a:spcAft>
                          <a:spcPts val="100"/>
                        </a:spcAft>
                      </a:pPr>
                      <a:r>
                        <a:rPr sz="1100" b="0" i="0">
                          <a:solidFill>
                            <a:srgbClr val="1A2733"/>
                          </a:solidFill>
                          <a:latin typeface="Calibri"/>
                        </a:rPr>
                        <a:t>82.43% accuracy on 74 test images (binary graft / non-graft).</a:t>
                      </a:r>
                    </a:p>
                  </a:txBody>
                  <a:tcPr marL="60000" marR="60000" marT="40000" marB="40000" anchor="ctr">
                    <a:solidFill>
                      <a:srgbClr val="FFFFFF"/>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l">
                        <a:spcBef>
                          <a:spcPts val="0"/>
                        </a:spcBef>
                        <a:spcAft>
                          <a:spcPts val="100"/>
                        </a:spcAft>
                      </a:pPr>
                      <a:r>
                        <a:rPr sz="1100" b="0" i="0">
                          <a:solidFill>
                            <a:srgbClr val="5B7A8C"/>
                          </a:solidFill>
                          <a:latin typeface="Calibri"/>
                        </a:rPr>
                        <a:t>Small public set; classification-only; no localization or recovery tracking.</a:t>
                      </a:r>
                    </a:p>
                  </a:txBody>
                  <a:tcPr marL="60000" marR="60000" marT="40000" marB="40000" anchor="ctr">
                    <a:solidFill>
                      <a:srgbClr val="FFFFFF"/>
                    </a:solidFill>
                    <a:lnL w="6350">
                      <a:solidFill>
                        <a:srgbClr val="DCE7EC"/>
                      </a:solidFill>
                    </a:lnL>
                    <a:lnR w="6350">
                      <a:solidFill>
                        <a:srgbClr val="DCE7EC"/>
                      </a:solidFill>
                    </a:lnR>
                    <a:lnT w="6350">
                      <a:solidFill>
                        <a:srgbClr val="DCE7EC"/>
                      </a:solidFill>
                    </a:lnT>
                    <a:lnB w="6350">
                      <a:solidFill>
                        <a:srgbClr val="DCE7EC"/>
                      </a:solidFill>
                    </a:lnB>
                  </a:tcPr>
                </a:tc>
              </a:tr>
              <a:tr h="1331976">
                <a:tc>
                  <a:txBody>
                    <a:bodyPr wrap="square"/>
                    <a:lstStyle/>
                    <a:p>
                      <a:pPr algn="l">
                        <a:spcBef>
                          <a:spcPts val="0"/>
                        </a:spcBef>
                        <a:spcAft>
                          <a:spcPts val="100"/>
                        </a:spcAft>
                      </a:pPr>
                      <a:r>
                        <a:rPr sz="1100" b="1" i="0">
                          <a:solidFill>
                            <a:srgbClr val="1A2733"/>
                          </a:solidFill>
                          <a:latin typeface="Calibri"/>
                        </a:rPr>
                        <a:t>[2] Cirillo et al., 2019</a:t>
                      </a:r>
                    </a:p>
                    <a:p>
                      <a:pPr algn="l">
                        <a:spcBef>
                          <a:spcPts val="0"/>
                        </a:spcBef>
                        <a:spcAft>
                          <a:spcPts val="100"/>
                        </a:spcAft>
                      </a:pPr>
                      <a:r>
                        <a:rPr sz="1000" b="0" i="0">
                          <a:solidFill>
                            <a:srgbClr val="5B7A8C"/>
                          </a:solidFill>
                          <a:latin typeface="Calibri"/>
                        </a:rPr>
                        <a:t>J. Burn Care &amp; Research</a:t>
                      </a:r>
                    </a:p>
                  </a:txBody>
                  <a:tcPr marL="60000" marR="60000" marT="40000" marB="40000" anchor="ctr">
                    <a:solidFill>
                      <a:srgbClr val="F4F8FA"/>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l">
                        <a:spcBef>
                          <a:spcPts val="0"/>
                        </a:spcBef>
                        <a:spcAft>
                          <a:spcPts val="100"/>
                        </a:spcAft>
                      </a:pPr>
                      <a:r>
                        <a:rPr sz="1100" b="0" i="0">
                          <a:solidFill>
                            <a:srgbClr val="1A2733"/>
                          </a:solidFill>
                          <a:latin typeface="Calibri"/>
                        </a:rPr>
                        <a:t>Pretrained CNNs (VGG-16, GoogleNet, ResNet-50/101) on TiVi camera images for burn-depth classes.</a:t>
                      </a:r>
                    </a:p>
                  </a:txBody>
                  <a:tcPr marL="60000" marR="60000" marT="40000" marB="40000" anchor="ctr">
                    <a:solidFill>
                      <a:srgbClr val="F4F8FA"/>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l">
                        <a:spcBef>
                          <a:spcPts val="0"/>
                        </a:spcBef>
                        <a:spcAft>
                          <a:spcPts val="100"/>
                        </a:spcAft>
                      </a:pPr>
                      <a:r>
                        <a:rPr sz="1100" b="0" i="0">
                          <a:solidFill>
                            <a:srgbClr val="1A2733"/>
                          </a:solidFill>
                          <a:latin typeface="Calibri"/>
                        </a:rPr>
                        <a:t>ResNet-101 10-fold avg. accuracy 81.66% (min 72.06%, max 88.06%).</a:t>
                      </a:r>
                    </a:p>
                  </a:txBody>
                  <a:tcPr marL="60000" marR="60000" marT="40000" marB="40000" anchor="ctr">
                    <a:solidFill>
                      <a:srgbClr val="F4F8FA"/>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l">
                        <a:spcBef>
                          <a:spcPts val="0"/>
                        </a:spcBef>
                        <a:spcAft>
                          <a:spcPts val="100"/>
                        </a:spcAft>
                      </a:pPr>
                      <a:r>
                        <a:rPr sz="1100" b="0" i="0">
                          <a:solidFill>
                            <a:srgbClr val="5B7A8C"/>
                          </a:solidFill>
                          <a:latin typeface="Calibri"/>
                        </a:rPr>
                        <a:t>Small source set; controlled TiVi acquisition; no segmentation or longitudinal monitoring.</a:t>
                      </a:r>
                    </a:p>
                  </a:txBody>
                  <a:tcPr marL="60000" marR="60000" marT="40000" marB="40000" anchor="ctr">
                    <a:solidFill>
                      <a:srgbClr val="F4F8FA"/>
                    </a:solidFill>
                    <a:lnL w="6350">
                      <a:solidFill>
                        <a:srgbClr val="DCE7EC"/>
                      </a:solidFill>
                    </a:lnL>
                    <a:lnR w="6350">
                      <a:solidFill>
                        <a:srgbClr val="DCE7EC"/>
                      </a:solidFill>
                    </a:lnR>
                    <a:lnT w="6350">
                      <a:solidFill>
                        <a:srgbClr val="DCE7EC"/>
                      </a:solidFill>
                    </a:lnT>
                    <a:lnB w="6350">
                      <a:solidFill>
                        <a:srgbClr val="DCE7EC"/>
                      </a:solidFill>
                    </a:lnB>
                  </a:tcPr>
                </a:tc>
              </a:tr>
              <a:tr h="1331976">
                <a:tc>
                  <a:txBody>
                    <a:bodyPr wrap="square"/>
                    <a:lstStyle/>
                    <a:p>
                      <a:pPr algn="l">
                        <a:spcBef>
                          <a:spcPts val="0"/>
                        </a:spcBef>
                        <a:spcAft>
                          <a:spcPts val="100"/>
                        </a:spcAft>
                      </a:pPr>
                      <a:r>
                        <a:rPr sz="1100" b="1" i="0">
                          <a:solidFill>
                            <a:srgbClr val="1A2733"/>
                          </a:solidFill>
                          <a:latin typeface="Calibri"/>
                        </a:rPr>
                        <a:t>[3] Chauhan &amp; Goyal, 2020</a:t>
                      </a:r>
                    </a:p>
                    <a:p>
                      <a:pPr algn="l">
                        <a:spcBef>
                          <a:spcPts val="0"/>
                        </a:spcBef>
                        <a:spcAft>
                          <a:spcPts val="100"/>
                        </a:spcAft>
                      </a:pPr>
                      <a:r>
                        <a:rPr sz="1000" b="0" i="0">
                          <a:solidFill>
                            <a:srgbClr val="5B7A8C"/>
                          </a:solidFill>
                          <a:latin typeface="Calibri"/>
                        </a:rPr>
                        <a:t>Burns (BPBSAM)</a:t>
                      </a:r>
                    </a:p>
                  </a:txBody>
                  <a:tcPr marL="60000" marR="60000" marT="40000" marB="40000" anchor="ctr">
                    <a:solidFill>
                      <a:srgbClr val="FFFFFF"/>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l">
                        <a:spcBef>
                          <a:spcPts val="0"/>
                        </a:spcBef>
                        <a:spcAft>
                          <a:spcPts val="100"/>
                        </a:spcAft>
                      </a:pPr>
                      <a:r>
                        <a:rPr sz="1100" b="0" i="0">
                          <a:solidFill>
                            <a:srgbClr val="1A2733"/>
                          </a:solidFill>
                          <a:latin typeface="Calibri"/>
                        </a:rPr>
                        <a:t>CNN body-part ID + body-part-specific SVMs for 3-level severity from color images.</a:t>
                      </a:r>
                    </a:p>
                  </a:txBody>
                  <a:tcPr marL="60000" marR="60000" marT="40000" marB="40000" anchor="ctr">
                    <a:solidFill>
                      <a:srgbClr val="FFFFFF"/>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l">
                        <a:spcBef>
                          <a:spcPts val="0"/>
                        </a:spcBef>
                        <a:spcAft>
                          <a:spcPts val="100"/>
                        </a:spcAft>
                      </a:pPr>
                      <a:r>
                        <a:rPr sz="1100" b="0" i="0">
                          <a:solidFill>
                            <a:srgbClr val="1A2733"/>
                          </a:solidFill>
                          <a:latin typeface="Calibri"/>
                        </a:rPr>
                        <a:t>BI: acc. 84.85%, F1 77.8%.  UBI: acc. 91.53%, F1 87.2%.</a:t>
                      </a:r>
                    </a:p>
                  </a:txBody>
                  <a:tcPr marL="60000" marR="60000" marT="40000" marB="40000" anchor="ctr">
                    <a:solidFill>
                      <a:srgbClr val="FFFFFF"/>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l">
                        <a:spcBef>
                          <a:spcPts val="0"/>
                        </a:spcBef>
                        <a:spcAft>
                          <a:spcPts val="100"/>
                        </a:spcAft>
                      </a:pPr>
                      <a:r>
                        <a:rPr sz="1100" b="0" i="0">
                          <a:solidFill>
                            <a:srgbClr val="5B7A8C"/>
                          </a:solidFill>
                          <a:latin typeface="Calibri"/>
                        </a:rPr>
                        <a:t>Limited labeled set (~200 images, partly web-collected); no segmentation or follow-up comparison.</a:t>
                      </a:r>
                    </a:p>
                  </a:txBody>
                  <a:tcPr marL="60000" marR="60000" marT="40000" marB="40000" anchor="ctr">
                    <a:solidFill>
                      <a:srgbClr val="FFFFFF"/>
                    </a:solidFill>
                    <a:lnL w="6350">
                      <a:solidFill>
                        <a:srgbClr val="DCE7EC"/>
                      </a:solidFill>
                    </a:lnL>
                    <a:lnR w="6350">
                      <a:solidFill>
                        <a:srgbClr val="DCE7EC"/>
                      </a:solidFill>
                    </a:lnR>
                    <a:lnT w="6350">
                      <a:solidFill>
                        <a:srgbClr val="DCE7EC"/>
                      </a:solidFill>
                    </a:lnT>
                    <a:lnB w="6350">
                      <a:solidFill>
                        <a:srgbClr val="DCE7EC"/>
                      </a:solidFill>
                    </a:lnB>
                  </a:tcPr>
                </a:tc>
              </a:tr>
            </a:tbl>
          </a:graphicData>
        </a:graphic>
      </p:graphicFrame>
      <p:sp>
        <p:nvSpPr>
          <p:cNvPr id="8" name="TextBox 7"/>
          <p:cNvSpPr txBox="1"/>
          <p:nvPr/>
        </p:nvSpPr>
        <p:spPr>
          <a:xfrm>
            <a:off x="8595360" y="6510528"/>
            <a:ext cx="3200400" cy="274320"/>
          </a:xfrm>
          <a:prstGeom prst="rect">
            <a:avLst/>
          </a:prstGeom>
          <a:noFill/>
        </p:spPr>
        <p:txBody>
          <a:bodyPr wrap="square" anchor="t"/>
          <a:lstStyle/>
          <a:p>
            <a:pPr algn="r">
              <a:spcBef>
                <a:spcPts val="0"/>
              </a:spcBef>
              <a:spcAft>
                <a:spcPts val="0"/>
              </a:spcAft>
            </a:pPr>
            <a:r>
              <a:rPr sz="1000" b="0" i="0">
                <a:solidFill>
                  <a:srgbClr val="5B7A8C"/>
                </a:solidFill>
                <a:latin typeface="Calibri"/>
              </a:rPr>
              <a:t>1 / 2   •   References at end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411480"/>
            <a:ext cx="457200" cy="45720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457200" cy="457200"/>
          </a:xfrm>
          <a:prstGeom prst="rect">
            <a:avLst/>
          </a:prstGeom>
          <a:noFill/>
        </p:spPr>
        <p:txBody>
          <a:bodyPr wrap="square" anchor="ctr"/>
          <a:lstStyle/>
          <a:p>
            <a:pPr algn="ctr">
              <a:spcBef>
                <a:spcPts val="0"/>
              </a:spcBef>
              <a:spcAft>
                <a:spcPts val="0"/>
              </a:spcAft>
            </a:pPr>
            <a:r>
              <a:rPr sz="2000" b="1" i="0">
                <a:solidFill>
                  <a:srgbClr val="FFFFFF"/>
                </a:solidFill>
                <a:latin typeface="Arial"/>
              </a:rPr>
              <a:t>L</a:t>
            </a:r>
          </a:p>
        </p:txBody>
      </p:sp>
      <p:sp>
        <p:nvSpPr>
          <p:cNvPr id="4" name="TextBox 3"/>
          <p:cNvSpPr txBox="1"/>
          <p:nvPr/>
        </p:nvSpPr>
        <p:spPr>
          <a:xfrm>
            <a:off x="1051560" y="347472"/>
            <a:ext cx="10241280" cy="594360"/>
          </a:xfrm>
          <a:prstGeom prst="rect">
            <a:avLst/>
          </a:prstGeom>
          <a:noFill/>
        </p:spPr>
        <p:txBody>
          <a:bodyPr wrap="square" anchor="ctr"/>
          <a:lstStyle/>
          <a:p>
            <a:pPr algn="l">
              <a:spcBef>
                <a:spcPts val="0"/>
              </a:spcBef>
              <a:spcAft>
                <a:spcPts val="0"/>
              </a:spcAft>
            </a:pPr>
            <a:r>
              <a:rPr sz="2800" b="1" i="0">
                <a:solidFill>
                  <a:srgbClr val="1A2733"/>
                </a:solidFill>
                <a:latin typeface="Cambria"/>
              </a:rPr>
              <a:t>Literature Review</a:t>
            </a:r>
          </a:p>
        </p:txBody>
      </p:sp>
      <p:sp>
        <p:nvSpPr>
          <p:cNvPr id="5" name="TextBox 4"/>
          <p:cNvSpPr txBox="1"/>
          <p:nvPr/>
        </p:nvSpPr>
        <p:spPr>
          <a:xfrm>
            <a:off x="457200" y="6510528"/>
            <a:ext cx="7315200" cy="274320"/>
          </a:xfrm>
          <a:prstGeom prst="rect">
            <a:avLst/>
          </a:prstGeom>
          <a:noFill/>
        </p:spPr>
        <p:txBody>
          <a:bodyPr wrap="square" anchor="t"/>
          <a:lstStyle/>
          <a:p>
            <a:pPr algn="l">
              <a:spcBef>
                <a:spcPts val="0"/>
              </a:spcBef>
              <a:spcAft>
                <a:spcPts val="0"/>
              </a:spcAft>
            </a:pPr>
            <a:r>
              <a:rPr sz="1000" b="0" i="0">
                <a:solidFill>
                  <a:srgbClr val="5B7A8C"/>
                </a:solidFill>
                <a:latin typeface="Calibri"/>
              </a:rPr>
              <a:t>GIKI FCSE  |  Title Defence</a:t>
            </a:r>
          </a:p>
        </p:txBody>
      </p:sp>
      <p:sp>
        <p:nvSpPr>
          <p:cNvPr id="6" name="TextBox 5"/>
          <p:cNvSpPr txBox="1"/>
          <p:nvPr/>
        </p:nvSpPr>
        <p:spPr>
          <a:xfrm>
            <a:off x="1051560" y="841248"/>
            <a:ext cx="10241280" cy="292608"/>
          </a:xfrm>
          <a:prstGeom prst="rect">
            <a:avLst/>
          </a:prstGeom>
          <a:noFill/>
        </p:spPr>
        <p:txBody>
          <a:bodyPr wrap="square" anchor="t"/>
          <a:lstStyle/>
          <a:p>
            <a:pPr algn="l">
              <a:spcBef>
                <a:spcPts val="0"/>
              </a:spcBef>
              <a:spcAft>
                <a:spcPts val="0"/>
              </a:spcAft>
            </a:pPr>
            <a:r>
              <a:rPr sz="1300" b="0" i="0">
                <a:solidFill>
                  <a:srgbClr val="1C7293"/>
                </a:solidFill>
                <a:latin typeface="Calibri"/>
              </a:rPr>
              <a:t>Segmentation, clinical assessment, and recovery tracking</a:t>
            </a:r>
          </a:p>
        </p:txBody>
      </p:sp>
      <p:graphicFrame>
        <p:nvGraphicFramePr>
          <p:cNvPr id="7" name="Table 6"/>
          <p:cNvGraphicFramePr>
            <a:graphicFrameLocks noGrp="1"/>
          </p:cNvGraphicFramePr>
          <p:nvPr/>
        </p:nvGraphicFramePr>
        <p:xfrm>
          <a:off x="411480" y="1170432"/>
          <a:ext cx="11338560" cy="4160520"/>
        </p:xfrm>
        <a:graphic>
          <a:graphicData uri="http://schemas.openxmlformats.org/drawingml/2006/table">
            <a:tbl>
              <a:tblPr firstRow="1" bandRow="1">
                <a:tableStyleId>{5C22544A-7EE6-4342-B048-85BDC9FD1C3A}</a:tableStyleId>
              </a:tblPr>
              <a:tblGrid>
                <a:gridCol w="2331720"/>
                <a:gridCol w="3154680"/>
                <a:gridCol w="2880360"/>
                <a:gridCol w="2971800"/>
              </a:tblGrid>
              <a:tr h="438912">
                <a:tc>
                  <a:txBody>
                    <a:bodyPr wrap="square"/>
                    <a:lstStyle/>
                    <a:p>
                      <a:pPr algn="ctr">
                        <a:spcBef>
                          <a:spcPts val="0"/>
                        </a:spcBef>
                        <a:spcAft>
                          <a:spcPts val="100"/>
                        </a:spcAft>
                      </a:pPr>
                      <a:r>
                        <a:rPr sz="1200" b="1" i="0">
                          <a:solidFill>
                            <a:srgbClr val="FFFFFF"/>
                          </a:solidFill>
                          <a:latin typeface="Calibri"/>
                        </a:rPr>
                        <a:t>Prior Work</a:t>
                      </a:r>
                    </a:p>
                  </a:txBody>
                  <a:tcPr marL="60000" marR="60000" marT="40000" marB="40000" anchor="ctr">
                    <a:solidFill>
                      <a:srgbClr val="065A82"/>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ctr">
                        <a:spcBef>
                          <a:spcPts val="0"/>
                        </a:spcBef>
                        <a:spcAft>
                          <a:spcPts val="100"/>
                        </a:spcAft>
                      </a:pPr>
                      <a:r>
                        <a:rPr sz="1200" b="1" i="0">
                          <a:solidFill>
                            <a:srgbClr val="FFFFFF"/>
                          </a:solidFill>
                          <a:latin typeface="Calibri"/>
                        </a:rPr>
                        <a:t>Method</a:t>
                      </a:r>
                    </a:p>
                  </a:txBody>
                  <a:tcPr marL="60000" marR="60000" marT="40000" marB="40000" anchor="ctr">
                    <a:solidFill>
                      <a:srgbClr val="065A82"/>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ctr">
                        <a:spcBef>
                          <a:spcPts val="0"/>
                        </a:spcBef>
                        <a:spcAft>
                          <a:spcPts val="100"/>
                        </a:spcAft>
                      </a:pPr>
                      <a:r>
                        <a:rPr sz="1200" b="1" i="0">
                          <a:solidFill>
                            <a:srgbClr val="FFFFFF"/>
                          </a:solidFill>
                          <a:latin typeface="Calibri"/>
                        </a:rPr>
                        <a:t>Result</a:t>
                      </a:r>
                    </a:p>
                  </a:txBody>
                  <a:tcPr marL="60000" marR="60000" marT="40000" marB="40000" anchor="ctr">
                    <a:solidFill>
                      <a:srgbClr val="065A82"/>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ctr">
                        <a:spcBef>
                          <a:spcPts val="0"/>
                        </a:spcBef>
                        <a:spcAft>
                          <a:spcPts val="100"/>
                        </a:spcAft>
                      </a:pPr>
                      <a:r>
                        <a:rPr sz="1200" b="1" i="0">
                          <a:solidFill>
                            <a:srgbClr val="FFFFFF"/>
                          </a:solidFill>
                          <a:latin typeface="Calibri"/>
                        </a:rPr>
                        <a:t>Key Limitation</a:t>
                      </a:r>
                    </a:p>
                  </a:txBody>
                  <a:tcPr marL="60000" marR="60000" marT="40000" marB="40000" anchor="ctr">
                    <a:solidFill>
                      <a:srgbClr val="065A82"/>
                    </a:solidFill>
                    <a:lnL w="6350">
                      <a:solidFill>
                        <a:srgbClr val="DCE7EC"/>
                      </a:solidFill>
                    </a:lnL>
                    <a:lnR w="6350">
                      <a:solidFill>
                        <a:srgbClr val="DCE7EC"/>
                      </a:solidFill>
                    </a:lnR>
                    <a:lnT w="6350">
                      <a:solidFill>
                        <a:srgbClr val="DCE7EC"/>
                      </a:solidFill>
                    </a:lnT>
                    <a:lnB w="6350">
                      <a:solidFill>
                        <a:srgbClr val="DCE7EC"/>
                      </a:solidFill>
                    </a:lnB>
                  </a:tcPr>
                </a:tc>
              </a:tr>
              <a:tr h="1240536">
                <a:tc>
                  <a:txBody>
                    <a:bodyPr wrap="square"/>
                    <a:lstStyle/>
                    <a:p>
                      <a:pPr algn="l">
                        <a:spcBef>
                          <a:spcPts val="0"/>
                        </a:spcBef>
                        <a:spcAft>
                          <a:spcPts val="100"/>
                        </a:spcAft>
                      </a:pPr>
                      <a:r>
                        <a:rPr sz="1100" b="1" i="0">
                          <a:solidFill>
                            <a:srgbClr val="1A2733"/>
                          </a:solidFill>
                          <a:latin typeface="Calibri"/>
                        </a:rPr>
                        <a:t>[4] Liu et al., 2021</a:t>
                      </a:r>
                    </a:p>
                    <a:p>
                      <a:pPr algn="l">
                        <a:spcBef>
                          <a:spcPts val="0"/>
                        </a:spcBef>
                        <a:spcAft>
                          <a:spcPts val="100"/>
                        </a:spcAft>
                      </a:pPr>
                      <a:r>
                        <a:rPr sz="1000" b="0" i="0">
                          <a:solidFill>
                            <a:srgbClr val="5B7A8C"/>
                          </a:solidFill>
                          <a:latin typeface="Calibri"/>
                        </a:rPr>
                        <a:t>Comput. Math. Methods Med.</a:t>
                      </a:r>
                    </a:p>
                  </a:txBody>
                  <a:tcPr marL="60000" marR="60000" marT="40000" marB="40000" anchor="ctr">
                    <a:solidFill>
                      <a:srgbClr val="FFFFFF"/>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l">
                        <a:spcBef>
                          <a:spcPts val="0"/>
                        </a:spcBef>
                        <a:spcAft>
                          <a:spcPts val="100"/>
                        </a:spcAft>
                      </a:pPr>
                      <a:r>
                        <a:rPr sz="1100" b="0" i="0">
                          <a:solidFill>
                            <a:srgbClr val="1A2733"/>
                          </a:solidFill>
                          <a:latin typeface="Calibri"/>
                        </a:rPr>
                        <a:t>Encoder–decoder FCNs (HRNet / ResNet + PPM / UPerNet) for burn area and multi-depth segmentation.</a:t>
                      </a:r>
                    </a:p>
                  </a:txBody>
                  <a:tcPr marL="60000" marR="60000" marT="40000" marB="40000" anchor="ctr">
                    <a:solidFill>
                      <a:srgbClr val="FFFFFF"/>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l">
                        <a:spcBef>
                          <a:spcPts val="0"/>
                        </a:spcBef>
                        <a:spcAft>
                          <a:spcPts val="100"/>
                        </a:spcAft>
                      </a:pPr>
                      <a:r>
                        <a:rPr sz="1100" b="0" i="0">
                          <a:solidFill>
                            <a:srgbClr val="1A2733"/>
                          </a:solidFill>
                          <a:latin typeface="Calibri"/>
                        </a:rPr>
                        <a:t>IoU 0.8467 (burn vs non-burn); average IoU 0.5144 for multiple depth regions.</a:t>
                      </a:r>
                    </a:p>
                  </a:txBody>
                  <a:tcPr marL="60000" marR="60000" marT="40000" marB="40000" anchor="ctr">
                    <a:solidFill>
                      <a:srgbClr val="FFFFFF"/>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l">
                        <a:spcBef>
                          <a:spcPts val="0"/>
                        </a:spcBef>
                        <a:spcAft>
                          <a:spcPts val="100"/>
                        </a:spcAft>
                      </a:pPr>
                      <a:r>
                        <a:rPr sz="1100" b="0" i="0">
                          <a:solidFill>
                            <a:srgbClr val="5B7A8C"/>
                          </a:solidFill>
                          <a:latin typeface="Calibri"/>
                        </a:rPr>
                        <a:t>Single-center dataset; multi-depth IoU modest; no longitudinal recovery analysis.</a:t>
                      </a:r>
                    </a:p>
                  </a:txBody>
                  <a:tcPr marL="60000" marR="60000" marT="40000" marB="40000" anchor="ctr">
                    <a:solidFill>
                      <a:srgbClr val="FFFFFF"/>
                    </a:solidFill>
                    <a:lnL w="6350">
                      <a:solidFill>
                        <a:srgbClr val="DCE7EC"/>
                      </a:solidFill>
                    </a:lnL>
                    <a:lnR w="6350">
                      <a:solidFill>
                        <a:srgbClr val="DCE7EC"/>
                      </a:solidFill>
                    </a:lnR>
                    <a:lnT w="6350">
                      <a:solidFill>
                        <a:srgbClr val="DCE7EC"/>
                      </a:solidFill>
                    </a:lnT>
                    <a:lnB w="6350">
                      <a:solidFill>
                        <a:srgbClr val="DCE7EC"/>
                      </a:solidFill>
                    </a:lnB>
                  </a:tcPr>
                </a:tc>
              </a:tr>
              <a:tr h="1240536">
                <a:tc>
                  <a:txBody>
                    <a:bodyPr wrap="square"/>
                    <a:lstStyle/>
                    <a:p>
                      <a:pPr algn="l">
                        <a:spcBef>
                          <a:spcPts val="0"/>
                        </a:spcBef>
                        <a:spcAft>
                          <a:spcPts val="100"/>
                        </a:spcAft>
                      </a:pPr>
                      <a:r>
                        <a:rPr sz="1100" b="1" i="0">
                          <a:solidFill>
                            <a:srgbClr val="1A2733"/>
                          </a:solidFill>
                          <a:latin typeface="Calibri"/>
                        </a:rPr>
                        <a:t>[5] Boissin et al., 2023</a:t>
                      </a:r>
                    </a:p>
                    <a:p>
                      <a:pPr algn="l">
                        <a:spcBef>
                          <a:spcPts val="0"/>
                        </a:spcBef>
                        <a:spcAft>
                          <a:spcPts val="100"/>
                        </a:spcAft>
                      </a:pPr>
                      <a:r>
                        <a:rPr sz="1000" b="0" i="0">
                          <a:solidFill>
                            <a:srgbClr val="5B7A8C"/>
                          </a:solidFill>
                          <a:latin typeface="Calibri"/>
                        </a:rPr>
                        <a:t>Scientific Reports</a:t>
                      </a:r>
                    </a:p>
                  </a:txBody>
                  <a:tcPr marL="60000" marR="60000" marT="40000" marB="40000" anchor="ctr">
                    <a:solidFill>
                      <a:srgbClr val="F4F8FA"/>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l">
                        <a:spcBef>
                          <a:spcPts val="0"/>
                        </a:spcBef>
                        <a:spcAft>
                          <a:spcPts val="100"/>
                        </a:spcAft>
                      </a:pPr>
                      <a:r>
                        <a:rPr sz="1100" b="0" i="0">
                          <a:solidFill>
                            <a:srgbClr val="1A2733"/>
                          </a:solidFill>
                          <a:latin typeface="Calibri"/>
                        </a:rPr>
                        <a:t>Deep-learning wound identifier + surgery-need classifier; images from Sweden and South Africa.</a:t>
                      </a:r>
                    </a:p>
                  </a:txBody>
                  <a:tcPr marL="60000" marR="60000" marT="40000" marB="40000" anchor="ctr">
                    <a:solidFill>
                      <a:srgbClr val="F4F8FA"/>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l">
                        <a:spcBef>
                          <a:spcPts val="0"/>
                        </a:spcBef>
                        <a:spcAft>
                          <a:spcPts val="100"/>
                        </a:spcAft>
                      </a:pPr>
                      <a:r>
                        <a:rPr sz="1100" b="0" i="0">
                          <a:solidFill>
                            <a:srgbClr val="1A2733"/>
                          </a:solidFill>
                          <a:latin typeface="Calibri"/>
                        </a:rPr>
                        <a:t>87.2% of wound area detected on test set; surgery classifier AUC 0.885. Skin-type performance differed.</a:t>
                      </a:r>
                    </a:p>
                  </a:txBody>
                  <a:tcPr marL="60000" marR="60000" marT="40000" marB="40000" anchor="ctr">
                    <a:solidFill>
                      <a:srgbClr val="F4F8FA"/>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l">
                        <a:spcBef>
                          <a:spcPts val="0"/>
                        </a:spcBef>
                        <a:spcAft>
                          <a:spcPts val="100"/>
                        </a:spcAft>
                      </a:pPr>
                      <a:r>
                        <a:rPr sz="1100" b="0" i="0">
                          <a:solidFill>
                            <a:srgbClr val="5B7A8C"/>
                          </a:solidFill>
                          <a:latin typeface="Calibri"/>
                        </a:rPr>
                        <a:t>Acute burns only (≤48 h); no recovery tracking; authors note larger, more diverse datasets are still needed.</a:t>
                      </a:r>
                    </a:p>
                  </a:txBody>
                  <a:tcPr marL="60000" marR="60000" marT="40000" marB="40000" anchor="ctr">
                    <a:solidFill>
                      <a:srgbClr val="F4F8FA"/>
                    </a:solidFill>
                    <a:lnL w="6350">
                      <a:solidFill>
                        <a:srgbClr val="DCE7EC"/>
                      </a:solidFill>
                    </a:lnL>
                    <a:lnR w="6350">
                      <a:solidFill>
                        <a:srgbClr val="DCE7EC"/>
                      </a:solidFill>
                    </a:lnR>
                    <a:lnT w="6350">
                      <a:solidFill>
                        <a:srgbClr val="DCE7EC"/>
                      </a:solidFill>
                    </a:lnT>
                    <a:lnB w="6350">
                      <a:solidFill>
                        <a:srgbClr val="DCE7EC"/>
                      </a:solidFill>
                    </a:lnB>
                  </a:tcPr>
                </a:tc>
              </a:tr>
              <a:tr h="1240536">
                <a:tc>
                  <a:txBody>
                    <a:bodyPr wrap="square"/>
                    <a:lstStyle/>
                    <a:p>
                      <a:pPr algn="l">
                        <a:spcBef>
                          <a:spcPts val="0"/>
                        </a:spcBef>
                        <a:spcAft>
                          <a:spcPts val="100"/>
                        </a:spcAft>
                      </a:pPr>
                      <a:r>
                        <a:rPr sz="1100" b="1" i="0">
                          <a:solidFill>
                            <a:srgbClr val="1A2733"/>
                          </a:solidFill>
                          <a:latin typeface="Calibri"/>
                        </a:rPr>
                        <a:t>[6] Ethier et al., 2024</a:t>
                      </a:r>
                    </a:p>
                    <a:p>
                      <a:pPr algn="l">
                        <a:spcBef>
                          <a:spcPts val="0"/>
                        </a:spcBef>
                        <a:spcAft>
                          <a:spcPts val="100"/>
                        </a:spcAft>
                      </a:pPr>
                      <a:r>
                        <a:rPr sz="1000" b="0" i="0">
                          <a:solidFill>
                            <a:srgbClr val="5B7A8C"/>
                          </a:solidFill>
                          <a:latin typeface="Calibri"/>
                        </a:rPr>
                        <a:t>J. Burn Care &amp; Research (SATA)</a:t>
                      </a:r>
                    </a:p>
                  </a:txBody>
                  <a:tcPr marL="60000" marR="60000" marT="40000" marB="40000" anchor="ctr">
                    <a:solidFill>
                      <a:srgbClr val="FFFFFF"/>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l">
                        <a:spcBef>
                          <a:spcPts val="0"/>
                        </a:spcBef>
                        <a:spcAft>
                          <a:spcPts val="100"/>
                        </a:spcAft>
                      </a:pPr>
                      <a:r>
                        <a:rPr sz="1100" b="0" i="0">
                          <a:solidFill>
                            <a:srgbClr val="1A2733"/>
                          </a:solidFill>
                          <a:latin typeface="Calibri"/>
                        </a:rPr>
                        <a:t>EfficientNetB7 + Boundary Attention Mapper, fiducial size measurement, and red–yellow–black–white color tracking.</a:t>
                      </a:r>
                    </a:p>
                  </a:txBody>
                  <a:tcPr marL="60000" marR="60000" marT="40000" marB="40000" anchor="ctr">
                    <a:solidFill>
                      <a:srgbClr val="FFFFFF"/>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l">
                        <a:spcBef>
                          <a:spcPts val="0"/>
                        </a:spcBef>
                        <a:spcAft>
                          <a:spcPts val="100"/>
                        </a:spcAft>
                      </a:pPr>
                      <a:r>
                        <a:rPr sz="1100" b="0" i="0">
                          <a:solidFill>
                            <a:srgbClr val="1A2733"/>
                          </a:solidFill>
                          <a:latin typeface="Calibri"/>
                        </a:rPr>
                        <a:t>Single-patient 6-week clinic + 2-week home proof-of-concept; area vs clinician boxes r = 0.87.</a:t>
                      </a:r>
                    </a:p>
                  </a:txBody>
                  <a:tcPr marL="60000" marR="60000" marT="40000" marB="40000" anchor="ctr">
                    <a:solidFill>
                      <a:srgbClr val="FFFFFF"/>
                    </a:solidFill>
                    <a:lnL w="6350">
                      <a:solidFill>
                        <a:srgbClr val="DCE7EC"/>
                      </a:solidFill>
                    </a:lnL>
                    <a:lnR w="6350">
                      <a:solidFill>
                        <a:srgbClr val="DCE7EC"/>
                      </a:solidFill>
                    </a:lnR>
                    <a:lnT w="6350">
                      <a:solidFill>
                        <a:srgbClr val="DCE7EC"/>
                      </a:solidFill>
                    </a:lnT>
                    <a:lnB w="6350">
                      <a:solidFill>
                        <a:srgbClr val="DCE7EC"/>
                      </a:solidFill>
                    </a:lnB>
                  </a:tcPr>
                </a:tc>
                <a:tc>
                  <a:txBody>
                    <a:bodyPr wrap="square"/>
                    <a:lstStyle/>
                    <a:p>
                      <a:pPr algn="l">
                        <a:spcBef>
                          <a:spcPts val="0"/>
                        </a:spcBef>
                        <a:spcAft>
                          <a:spcPts val="100"/>
                        </a:spcAft>
                      </a:pPr>
                      <a:r>
                        <a:rPr sz="1100" b="0" i="0">
                          <a:solidFill>
                            <a:srgbClr val="5B7A8C"/>
                          </a:solidFill>
                          <a:latin typeface="Calibri"/>
                        </a:rPr>
                        <a:t>Single-case prototype; limited generalization; not an integrated reporting / decision-support workflow.</a:t>
                      </a:r>
                    </a:p>
                  </a:txBody>
                  <a:tcPr marL="60000" marR="60000" marT="40000" marB="40000" anchor="ctr">
                    <a:solidFill>
                      <a:srgbClr val="FFFFFF"/>
                    </a:solidFill>
                    <a:lnL w="6350">
                      <a:solidFill>
                        <a:srgbClr val="DCE7EC"/>
                      </a:solidFill>
                    </a:lnL>
                    <a:lnR w="6350">
                      <a:solidFill>
                        <a:srgbClr val="DCE7EC"/>
                      </a:solidFill>
                    </a:lnR>
                    <a:lnT w="6350">
                      <a:solidFill>
                        <a:srgbClr val="DCE7EC"/>
                      </a:solidFill>
                    </a:lnT>
                    <a:lnB w="6350">
                      <a:solidFill>
                        <a:srgbClr val="DCE7EC"/>
                      </a:solidFill>
                    </a:lnB>
                  </a:tcPr>
                </a:tc>
              </a:tr>
            </a:tbl>
          </a:graphicData>
        </a:graphic>
      </p:graphicFrame>
      <p:sp>
        <p:nvSpPr>
          <p:cNvPr id="8" name="Rounded Rectangle 7"/>
          <p:cNvSpPr/>
          <p:nvPr/>
        </p:nvSpPr>
        <p:spPr>
          <a:xfrm>
            <a:off x="411480" y="5440680"/>
            <a:ext cx="11338560" cy="960120"/>
          </a:xfrm>
          <a:prstGeom prst="roundRect">
            <a:avLst>
              <a:gd name="adj" fmla="val 4255"/>
            </a:avLst>
          </a:prstGeom>
          <a:solidFill>
            <a:srgbClr val="F4F8FA"/>
          </a:solidFill>
          <a:ln w="12700">
            <a:solidFill>
              <a:srgbClr val="DC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5440680"/>
            <a:ext cx="73152" cy="960120"/>
          </a:xfrm>
          <a:prstGeom prst="roundRect">
            <a:avLst>
              <a:gd name="adj" fmla="val 0"/>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5513832"/>
            <a:ext cx="11045952" cy="850392"/>
          </a:xfrm>
          <a:prstGeom prst="rect">
            <a:avLst/>
          </a:prstGeom>
          <a:noFill/>
        </p:spPr>
        <p:txBody>
          <a:bodyPr wrap="square" anchor="ctr">
            <a:spAutoFit/>
          </a:bodyPr>
          <a:lstStyle/>
          <a:p>
            <a:pPr algn="l">
              <a:spcBef>
                <a:spcPts val="0"/>
              </a:spcBef>
              <a:spcAft>
                <a:spcPts val="200"/>
              </a:spcAft>
            </a:pPr>
            <a:r>
              <a:rPr sz="1100" b="1" i="0">
                <a:solidFill>
                  <a:srgbClr val="065A82"/>
                </a:solidFill>
                <a:latin typeface="Calibri"/>
              </a:rPr>
              <a:t>Research Gap</a:t>
            </a:r>
          </a:p>
          <a:p>
            <a:pPr algn="l">
              <a:spcBef>
                <a:spcPts val="0"/>
              </a:spcBef>
              <a:spcAft>
                <a:spcPts val="200"/>
              </a:spcAft>
            </a:pPr>
            <a:r>
              <a:rPr sz="1200" b="0" i="0">
                <a:solidFill>
                  <a:srgbClr val="1A2733"/>
                </a:solidFill>
                <a:latin typeface="Calibri"/>
              </a:rPr>
              <a:t>Existing approaches largely address individual components of burn assessment, while an integrated system for assessment + localization + severity estimation + longitudinal recovery monitoring remains an open practical challenge.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411480"/>
            <a:ext cx="457200" cy="457200"/>
          </a:xfrm>
          <a:prstGeom prst="ellipse">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457200" cy="457200"/>
          </a:xfrm>
          <a:prstGeom prst="rect">
            <a:avLst/>
          </a:prstGeom>
          <a:noFill/>
        </p:spPr>
        <p:txBody>
          <a:bodyPr wrap="square" anchor="ctr"/>
          <a:lstStyle/>
          <a:p>
            <a:pPr algn="ctr">
              <a:spcBef>
                <a:spcPts val="0"/>
              </a:spcBef>
              <a:spcAft>
                <a:spcPts val="0"/>
              </a:spcAft>
            </a:pPr>
            <a:r>
              <a:rPr sz="2000" b="1" i="0">
                <a:solidFill>
                  <a:srgbClr val="FFFFFF"/>
                </a:solidFill>
                <a:latin typeface="Arial"/>
              </a:rPr>
              <a:t>!</a:t>
            </a:r>
          </a:p>
        </p:txBody>
      </p:sp>
      <p:sp>
        <p:nvSpPr>
          <p:cNvPr id="4" name="TextBox 3"/>
          <p:cNvSpPr txBox="1"/>
          <p:nvPr/>
        </p:nvSpPr>
        <p:spPr>
          <a:xfrm>
            <a:off x="1051560" y="347472"/>
            <a:ext cx="10241280" cy="594360"/>
          </a:xfrm>
          <a:prstGeom prst="rect">
            <a:avLst/>
          </a:prstGeom>
          <a:noFill/>
        </p:spPr>
        <p:txBody>
          <a:bodyPr wrap="square" anchor="ctr"/>
          <a:lstStyle/>
          <a:p>
            <a:pPr algn="l">
              <a:spcBef>
                <a:spcPts val="0"/>
              </a:spcBef>
              <a:spcAft>
                <a:spcPts val="0"/>
              </a:spcAft>
            </a:pPr>
            <a:r>
              <a:rPr sz="2800" b="1" i="0">
                <a:solidFill>
                  <a:srgbClr val="1A2733"/>
                </a:solidFill>
                <a:latin typeface="Cambria"/>
              </a:rPr>
              <a:t>Motivation</a:t>
            </a:r>
          </a:p>
        </p:txBody>
      </p:sp>
      <p:sp>
        <p:nvSpPr>
          <p:cNvPr id="5" name="TextBox 4"/>
          <p:cNvSpPr txBox="1"/>
          <p:nvPr/>
        </p:nvSpPr>
        <p:spPr>
          <a:xfrm>
            <a:off x="457200" y="6510528"/>
            <a:ext cx="7315200" cy="274320"/>
          </a:xfrm>
          <a:prstGeom prst="rect">
            <a:avLst/>
          </a:prstGeom>
          <a:noFill/>
        </p:spPr>
        <p:txBody>
          <a:bodyPr wrap="square" anchor="t"/>
          <a:lstStyle/>
          <a:p>
            <a:pPr algn="l">
              <a:spcBef>
                <a:spcPts val="0"/>
              </a:spcBef>
              <a:spcAft>
                <a:spcPts val="0"/>
              </a:spcAft>
            </a:pPr>
            <a:r>
              <a:rPr sz="1000" b="0" i="0">
                <a:solidFill>
                  <a:srgbClr val="5B7A8C"/>
                </a:solidFill>
                <a:latin typeface="Calibri"/>
              </a:rPr>
              <a:t>GIKI FCSE  |  Title Defence</a:t>
            </a:r>
          </a:p>
        </p:txBody>
      </p:sp>
      <p:sp>
        <p:nvSpPr>
          <p:cNvPr id="6" name="Rounded Rectangle 5"/>
          <p:cNvSpPr/>
          <p:nvPr/>
        </p:nvSpPr>
        <p:spPr>
          <a:xfrm>
            <a:off x="457200" y="1078992"/>
            <a:ext cx="3611880" cy="2084831"/>
          </a:xfrm>
          <a:prstGeom prst="roundRect">
            <a:avLst>
              <a:gd name="adj" fmla="val 4255"/>
            </a:avLst>
          </a:prstGeom>
          <a:solidFill>
            <a:srgbClr val="F4F8FA"/>
          </a:solidFill>
          <a:ln w="12700">
            <a:solidFill>
              <a:srgbClr val="DC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280160"/>
            <a:ext cx="384048" cy="38404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280160"/>
            <a:ext cx="384048" cy="384048"/>
          </a:xfrm>
          <a:prstGeom prst="rect">
            <a:avLst/>
          </a:prstGeom>
          <a:noFill/>
        </p:spPr>
        <p:txBody>
          <a:bodyPr wrap="square" anchor="ctr"/>
          <a:lstStyle/>
          <a:p>
            <a:pPr algn="ctr">
              <a:spcBef>
                <a:spcPts val="0"/>
              </a:spcBef>
              <a:spcAft>
                <a:spcPts val="0"/>
              </a:spcAft>
            </a:pPr>
            <a:r>
              <a:rPr sz="1600" b="1" i="0">
                <a:solidFill>
                  <a:srgbClr val="FFFFFF"/>
                </a:solidFill>
                <a:latin typeface="Arial"/>
              </a:rPr>
              <a:t>1</a:t>
            </a:r>
          </a:p>
        </p:txBody>
      </p:sp>
      <p:sp>
        <p:nvSpPr>
          <p:cNvPr id="9" name="TextBox 8"/>
          <p:cNvSpPr txBox="1"/>
          <p:nvPr/>
        </p:nvSpPr>
        <p:spPr>
          <a:xfrm>
            <a:off x="1170432" y="1261872"/>
            <a:ext cx="2715768" cy="420624"/>
          </a:xfrm>
          <a:prstGeom prst="rect">
            <a:avLst/>
          </a:prstGeom>
          <a:noFill/>
        </p:spPr>
        <p:txBody>
          <a:bodyPr wrap="square" anchor="ctr"/>
          <a:lstStyle/>
          <a:p>
            <a:pPr algn="l">
              <a:spcBef>
                <a:spcPts val="0"/>
              </a:spcBef>
              <a:spcAft>
                <a:spcPts val="0"/>
              </a:spcAft>
            </a:pPr>
            <a:r>
              <a:rPr sz="1400" b="1" i="0">
                <a:solidFill>
                  <a:srgbClr val="1A2733"/>
                </a:solidFill>
                <a:latin typeface="Calibri"/>
              </a:rPr>
              <a:t>Clinical Assessment Challenge</a:t>
            </a:r>
          </a:p>
        </p:txBody>
      </p:sp>
      <p:sp>
        <p:nvSpPr>
          <p:cNvPr id="10" name="TextBox 9"/>
          <p:cNvSpPr txBox="1"/>
          <p:nvPr/>
        </p:nvSpPr>
        <p:spPr>
          <a:xfrm>
            <a:off x="658368" y="1737360"/>
            <a:ext cx="3209544" cy="1298447"/>
          </a:xfrm>
          <a:prstGeom prst="rect">
            <a:avLst/>
          </a:prstGeom>
          <a:noFill/>
        </p:spPr>
        <p:txBody>
          <a:bodyPr wrap="square" anchor="t"/>
          <a:lstStyle/>
          <a:p>
            <a:pPr algn="l">
              <a:spcBef>
                <a:spcPts val="0"/>
              </a:spcBef>
              <a:spcAft>
                <a:spcPts val="0"/>
              </a:spcAft>
            </a:pPr>
            <a:r>
              <a:rPr sz="1250" b="0" i="0">
                <a:solidFill>
                  <a:srgbClr val="5B7A8C"/>
                </a:solidFill>
                <a:latin typeface="Calibri"/>
              </a:rPr>
              <a:t>Burn assessment is difficult because severity depends on depth, affected area, location, and how the wound progresses.</a:t>
            </a:r>
          </a:p>
        </p:txBody>
      </p:sp>
      <p:sp>
        <p:nvSpPr>
          <p:cNvPr id="11" name="Rounded Rectangle 10"/>
          <p:cNvSpPr/>
          <p:nvPr/>
        </p:nvSpPr>
        <p:spPr>
          <a:xfrm>
            <a:off x="4233672" y="1078992"/>
            <a:ext cx="3611880" cy="2084831"/>
          </a:xfrm>
          <a:prstGeom prst="roundRect">
            <a:avLst>
              <a:gd name="adj" fmla="val 4255"/>
            </a:avLst>
          </a:prstGeom>
          <a:solidFill>
            <a:srgbClr val="F4F8FA"/>
          </a:solidFill>
          <a:ln w="12700">
            <a:solidFill>
              <a:srgbClr val="DC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434840" y="1280160"/>
            <a:ext cx="384048" cy="38404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280160"/>
            <a:ext cx="384048" cy="384048"/>
          </a:xfrm>
          <a:prstGeom prst="rect">
            <a:avLst/>
          </a:prstGeom>
          <a:noFill/>
        </p:spPr>
        <p:txBody>
          <a:bodyPr wrap="square" anchor="ctr"/>
          <a:lstStyle/>
          <a:p>
            <a:pPr algn="ctr">
              <a:spcBef>
                <a:spcPts val="0"/>
              </a:spcBef>
              <a:spcAft>
                <a:spcPts val="0"/>
              </a:spcAft>
            </a:pPr>
            <a:r>
              <a:rPr sz="1600" b="1" i="0">
                <a:solidFill>
                  <a:srgbClr val="FFFFFF"/>
                </a:solidFill>
                <a:latin typeface="Arial"/>
              </a:rPr>
              <a:t>2</a:t>
            </a:r>
          </a:p>
        </p:txBody>
      </p:sp>
      <p:sp>
        <p:nvSpPr>
          <p:cNvPr id="14" name="TextBox 13"/>
          <p:cNvSpPr txBox="1"/>
          <p:nvPr/>
        </p:nvSpPr>
        <p:spPr>
          <a:xfrm>
            <a:off x="4946904" y="1261872"/>
            <a:ext cx="2715768" cy="420624"/>
          </a:xfrm>
          <a:prstGeom prst="rect">
            <a:avLst/>
          </a:prstGeom>
          <a:noFill/>
        </p:spPr>
        <p:txBody>
          <a:bodyPr wrap="square" anchor="ctr"/>
          <a:lstStyle/>
          <a:p>
            <a:pPr algn="l">
              <a:spcBef>
                <a:spcPts val="0"/>
              </a:spcBef>
              <a:spcAft>
                <a:spcPts val="0"/>
              </a:spcAft>
            </a:pPr>
            <a:r>
              <a:rPr sz="1400" b="1" i="0">
                <a:solidFill>
                  <a:srgbClr val="1A2733"/>
                </a:solidFill>
                <a:latin typeface="Calibri"/>
              </a:rPr>
              <a:t>Limited Specialist Access</a:t>
            </a:r>
          </a:p>
        </p:txBody>
      </p:sp>
      <p:sp>
        <p:nvSpPr>
          <p:cNvPr id="15" name="TextBox 14"/>
          <p:cNvSpPr txBox="1"/>
          <p:nvPr/>
        </p:nvSpPr>
        <p:spPr>
          <a:xfrm>
            <a:off x="4434840" y="1737360"/>
            <a:ext cx="3209544" cy="1298447"/>
          </a:xfrm>
          <a:prstGeom prst="rect">
            <a:avLst/>
          </a:prstGeom>
          <a:noFill/>
        </p:spPr>
        <p:txBody>
          <a:bodyPr wrap="square" anchor="t"/>
          <a:lstStyle/>
          <a:p>
            <a:pPr algn="l">
              <a:spcBef>
                <a:spcPts val="0"/>
              </a:spcBef>
              <a:spcAft>
                <a:spcPts val="0"/>
              </a:spcAft>
            </a:pPr>
            <a:r>
              <a:rPr sz="1250" b="0" i="0">
                <a:solidFill>
                  <a:srgbClr val="5B7A8C"/>
                </a:solidFill>
                <a:latin typeface="Calibri"/>
              </a:rPr>
              <a:t>Specialized burn-care expertise and consistent assessment are not always available, especially in resource-constrained settings.</a:t>
            </a:r>
          </a:p>
        </p:txBody>
      </p:sp>
      <p:sp>
        <p:nvSpPr>
          <p:cNvPr id="16" name="Rounded Rectangle 15"/>
          <p:cNvSpPr/>
          <p:nvPr/>
        </p:nvSpPr>
        <p:spPr>
          <a:xfrm>
            <a:off x="8010144" y="1078992"/>
            <a:ext cx="3611880" cy="2084831"/>
          </a:xfrm>
          <a:prstGeom prst="roundRect">
            <a:avLst>
              <a:gd name="adj" fmla="val 4255"/>
            </a:avLst>
          </a:prstGeom>
          <a:solidFill>
            <a:srgbClr val="F4F8FA"/>
          </a:solidFill>
          <a:ln w="12700">
            <a:solidFill>
              <a:srgbClr val="DC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11312" y="1280160"/>
            <a:ext cx="384048" cy="38404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1312" y="1280160"/>
            <a:ext cx="384048" cy="384048"/>
          </a:xfrm>
          <a:prstGeom prst="rect">
            <a:avLst/>
          </a:prstGeom>
          <a:noFill/>
        </p:spPr>
        <p:txBody>
          <a:bodyPr wrap="square" anchor="ctr"/>
          <a:lstStyle/>
          <a:p>
            <a:pPr algn="ctr">
              <a:spcBef>
                <a:spcPts val="0"/>
              </a:spcBef>
              <a:spcAft>
                <a:spcPts val="0"/>
              </a:spcAft>
            </a:pPr>
            <a:r>
              <a:rPr sz="1600" b="1" i="0">
                <a:solidFill>
                  <a:srgbClr val="FFFFFF"/>
                </a:solidFill>
                <a:latin typeface="Arial"/>
              </a:rPr>
              <a:t>3</a:t>
            </a:r>
          </a:p>
        </p:txBody>
      </p:sp>
      <p:sp>
        <p:nvSpPr>
          <p:cNvPr id="19" name="TextBox 18"/>
          <p:cNvSpPr txBox="1"/>
          <p:nvPr/>
        </p:nvSpPr>
        <p:spPr>
          <a:xfrm>
            <a:off x="8723376" y="1261872"/>
            <a:ext cx="2715768" cy="420624"/>
          </a:xfrm>
          <a:prstGeom prst="rect">
            <a:avLst/>
          </a:prstGeom>
          <a:noFill/>
        </p:spPr>
        <p:txBody>
          <a:bodyPr wrap="square" anchor="ctr"/>
          <a:lstStyle/>
          <a:p>
            <a:pPr algn="l">
              <a:spcBef>
                <a:spcPts val="0"/>
              </a:spcBef>
              <a:spcAft>
                <a:spcPts val="0"/>
              </a:spcAft>
            </a:pPr>
            <a:r>
              <a:rPr sz="1400" b="1" i="0">
                <a:solidFill>
                  <a:srgbClr val="1A2733"/>
                </a:solidFill>
                <a:latin typeface="Calibri"/>
              </a:rPr>
              <a:t>Subjectivity and Variability</a:t>
            </a:r>
          </a:p>
        </p:txBody>
      </p:sp>
      <p:sp>
        <p:nvSpPr>
          <p:cNvPr id="20" name="TextBox 19"/>
          <p:cNvSpPr txBox="1"/>
          <p:nvPr/>
        </p:nvSpPr>
        <p:spPr>
          <a:xfrm>
            <a:off x="8211312" y="1737360"/>
            <a:ext cx="3209544" cy="1298447"/>
          </a:xfrm>
          <a:prstGeom prst="rect">
            <a:avLst/>
          </a:prstGeom>
          <a:noFill/>
        </p:spPr>
        <p:txBody>
          <a:bodyPr wrap="square" anchor="t"/>
          <a:lstStyle/>
          <a:p>
            <a:pPr algn="l">
              <a:spcBef>
                <a:spcPts val="0"/>
              </a:spcBef>
              <a:spcAft>
                <a:spcPts val="0"/>
              </a:spcAft>
            </a:pPr>
            <a:r>
              <a:rPr sz="1250" b="0" i="0">
                <a:solidFill>
                  <a:srgbClr val="5B7A8C"/>
                </a:solidFill>
                <a:latin typeface="Calibri"/>
              </a:rPr>
              <a:t>Visual assessment involves clinical judgment, which makes consistent documentation and comparison across visits challenging.</a:t>
            </a:r>
          </a:p>
        </p:txBody>
      </p:sp>
      <p:sp>
        <p:nvSpPr>
          <p:cNvPr id="21" name="Rounded Rectangle 20"/>
          <p:cNvSpPr/>
          <p:nvPr/>
        </p:nvSpPr>
        <p:spPr>
          <a:xfrm>
            <a:off x="2400300" y="3310127"/>
            <a:ext cx="3611880" cy="2084831"/>
          </a:xfrm>
          <a:prstGeom prst="roundRect">
            <a:avLst>
              <a:gd name="adj" fmla="val 4255"/>
            </a:avLst>
          </a:prstGeom>
          <a:solidFill>
            <a:srgbClr val="F4F8FA"/>
          </a:solidFill>
          <a:ln w="12700">
            <a:solidFill>
              <a:srgbClr val="DC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601468" y="3511295"/>
            <a:ext cx="384048" cy="38404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01468" y="3511295"/>
            <a:ext cx="384048" cy="384048"/>
          </a:xfrm>
          <a:prstGeom prst="rect">
            <a:avLst/>
          </a:prstGeom>
          <a:noFill/>
        </p:spPr>
        <p:txBody>
          <a:bodyPr wrap="square" anchor="ctr"/>
          <a:lstStyle/>
          <a:p>
            <a:pPr algn="ctr">
              <a:spcBef>
                <a:spcPts val="0"/>
              </a:spcBef>
              <a:spcAft>
                <a:spcPts val="0"/>
              </a:spcAft>
            </a:pPr>
            <a:r>
              <a:rPr sz="1600" b="1" i="0">
                <a:solidFill>
                  <a:srgbClr val="FFFFFF"/>
                </a:solidFill>
                <a:latin typeface="Arial"/>
              </a:rPr>
              <a:t>4</a:t>
            </a:r>
          </a:p>
        </p:txBody>
      </p:sp>
      <p:sp>
        <p:nvSpPr>
          <p:cNvPr id="24" name="TextBox 23"/>
          <p:cNvSpPr txBox="1"/>
          <p:nvPr/>
        </p:nvSpPr>
        <p:spPr>
          <a:xfrm>
            <a:off x="3113532" y="3493007"/>
            <a:ext cx="2715768" cy="420624"/>
          </a:xfrm>
          <a:prstGeom prst="rect">
            <a:avLst/>
          </a:prstGeom>
          <a:noFill/>
        </p:spPr>
        <p:txBody>
          <a:bodyPr wrap="square" anchor="ctr"/>
          <a:lstStyle/>
          <a:p>
            <a:pPr algn="l">
              <a:spcBef>
                <a:spcPts val="0"/>
              </a:spcBef>
              <a:spcAft>
                <a:spcPts val="0"/>
              </a:spcAft>
            </a:pPr>
            <a:r>
              <a:rPr sz="1400" b="1" i="0">
                <a:solidFill>
                  <a:srgbClr val="1A2733"/>
                </a:solidFill>
                <a:latin typeface="Calibri"/>
              </a:rPr>
              <a:t>Need for Longitudinal Monitoring</a:t>
            </a:r>
          </a:p>
        </p:txBody>
      </p:sp>
      <p:sp>
        <p:nvSpPr>
          <p:cNvPr id="25" name="TextBox 24"/>
          <p:cNvSpPr txBox="1"/>
          <p:nvPr/>
        </p:nvSpPr>
        <p:spPr>
          <a:xfrm>
            <a:off x="2601468" y="3968495"/>
            <a:ext cx="3209544" cy="1298447"/>
          </a:xfrm>
          <a:prstGeom prst="rect">
            <a:avLst/>
          </a:prstGeom>
          <a:noFill/>
        </p:spPr>
        <p:txBody>
          <a:bodyPr wrap="square" anchor="t"/>
          <a:lstStyle/>
          <a:p>
            <a:pPr algn="l">
              <a:spcBef>
                <a:spcPts val="0"/>
              </a:spcBef>
              <a:spcAft>
                <a:spcPts val="0"/>
              </a:spcAft>
            </a:pPr>
            <a:r>
              <a:rPr sz="1250" b="0" i="0">
                <a:solidFill>
                  <a:srgbClr val="5B7A8C"/>
                </a:solidFill>
                <a:latin typeface="Calibri"/>
              </a:rPr>
              <a:t>A single assessment does not capture healing. Tracking changes across follow-up visits can add useful information.</a:t>
            </a:r>
          </a:p>
        </p:txBody>
      </p:sp>
      <p:sp>
        <p:nvSpPr>
          <p:cNvPr id="26" name="Rounded Rectangle 25"/>
          <p:cNvSpPr/>
          <p:nvPr/>
        </p:nvSpPr>
        <p:spPr>
          <a:xfrm>
            <a:off x="6176772" y="3310127"/>
            <a:ext cx="3611880" cy="2084831"/>
          </a:xfrm>
          <a:prstGeom prst="roundRect">
            <a:avLst>
              <a:gd name="adj" fmla="val 4255"/>
            </a:avLst>
          </a:prstGeom>
          <a:solidFill>
            <a:srgbClr val="F4F8FA"/>
          </a:solidFill>
          <a:ln w="12700">
            <a:solidFill>
              <a:srgbClr val="DC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511295"/>
            <a:ext cx="384048" cy="384048"/>
          </a:xfrm>
          <a:prstGeom prst="ellipse">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511295"/>
            <a:ext cx="384048" cy="384048"/>
          </a:xfrm>
          <a:prstGeom prst="rect">
            <a:avLst/>
          </a:prstGeom>
          <a:noFill/>
        </p:spPr>
        <p:txBody>
          <a:bodyPr wrap="square" anchor="ctr"/>
          <a:lstStyle/>
          <a:p>
            <a:pPr algn="ctr">
              <a:spcBef>
                <a:spcPts val="0"/>
              </a:spcBef>
              <a:spcAft>
                <a:spcPts val="0"/>
              </a:spcAft>
            </a:pPr>
            <a:r>
              <a:rPr sz="1600" b="1" i="0">
                <a:solidFill>
                  <a:srgbClr val="FFFFFF"/>
                </a:solidFill>
                <a:latin typeface="Arial"/>
              </a:rPr>
              <a:t>5</a:t>
            </a:r>
          </a:p>
        </p:txBody>
      </p:sp>
      <p:sp>
        <p:nvSpPr>
          <p:cNvPr id="29" name="TextBox 28"/>
          <p:cNvSpPr txBox="1"/>
          <p:nvPr/>
        </p:nvSpPr>
        <p:spPr>
          <a:xfrm>
            <a:off x="6890004" y="3493007"/>
            <a:ext cx="2715768" cy="420624"/>
          </a:xfrm>
          <a:prstGeom prst="rect">
            <a:avLst/>
          </a:prstGeom>
          <a:noFill/>
        </p:spPr>
        <p:txBody>
          <a:bodyPr wrap="square" anchor="ctr"/>
          <a:lstStyle/>
          <a:p>
            <a:pPr algn="l">
              <a:spcBef>
                <a:spcPts val="0"/>
              </a:spcBef>
              <a:spcAft>
                <a:spcPts val="0"/>
              </a:spcAft>
            </a:pPr>
            <a:r>
              <a:rPr sz="1400" b="1" i="0">
                <a:solidFill>
                  <a:srgbClr val="1A2733"/>
                </a:solidFill>
                <a:latin typeface="Calibri"/>
              </a:rPr>
              <a:t>Opportunity for AI Assistance</a:t>
            </a:r>
          </a:p>
        </p:txBody>
      </p:sp>
      <p:sp>
        <p:nvSpPr>
          <p:cNvPr id="30" name="TextBox 29"/>
          <p:cNvSpPr txBox="1"/>
          <p:nvPr/>
        </p:nvSpPr>
        <p:spPr>
          <a:xfrm>
            <a:off x="6377940" y="3968495"/>
            <a:ext cx="3209544" cy="1298447"/>
          </a:xfrm>
          <a:prstGeom prst="rect">
            <a:avLst/>
          </a:prstGeom>
          <a:noFill/>
        </p:spPr>
        <p:txBody>
          <a:bodyPr wrap="square" anchor="t"/>
          <a:lstStyle/>
          <a:p>
            <a:pPr algn="l">
              <a:spcBef>
                <a:spcPts val="0"/>
              </a:spcBef>
              <a:spcAft>
                <a:spcPts val="0"/>
              </a:spcAft>
            </a:pPr>
            <a:r>
              <a:rPr sz="1250" b="0" i="0">
                <a:solidFill>
                  <a:srgbClr val="5B7A8C"/>
                </a:solidFill>
                <a:latin typeface="Calibri"/>
              </a:rPr>
              <a:t>Computer vision and multimodal AI can assist clinicians with consistent image-based measurements and structured summaries.</a:t>
            </a:r>
          </a:p>
        </p:txBody>
      </p:sp>
      <p:sp>
        <p:nvSpPr>
          <p:cNvPr id="31" name="Rounded Rectangle 30"/>
          <p:cNvSpPr/>
          <p:nvPr/>
        </p:nvSpPr>
        <p:spPr>
          <a:xfrm>
            <a:off x="457200" y="5559552"/>
            <a:ext cx="11274552" cy="841248"/>
          </a:xfrm>
          <a:prstGeom prst="roundRect">
            <a:avLst>
              <a:gd name="adj" fmla="val 4255"/>
            </a:avLst>
          </a:prstGeom>
          <a:solidFill>
            <a:srgbClr val="F4F8FA"/>
          </a:solidFill>
          <a:ln w="12700">
            <a:solidFill>
              <a:srgbClr val="DC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57200" y="5559552"/>
            <a:ext cx="73152" cy="841248"/>
          </a:xfrm>
          <a:prstGeom prst="roundRect">
            <a:avLst>
              <a:gd name="adj" fmla="val 0"/>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5632704"/>
            <a:ext cx="10981944" cy="731520"/>
          </a:xfrm>
          <a:prstGeom prst="rect">
            <a:avLst/>
          </a:prstGeom>
          <a:noFill/>
        </p:spPr>
        <p:txBody>
          <a:bodyPr wrap="square" anchor="ctr">
            <a:spAutoFit/>
          </a:bodyPr>
          <a:lstStyle/>
          <a:p>
            <a:pPr algn="l">
              <a:spcBef>
                <a:spcPts val="0"/>
              </a:spcBef>
              <a:spcAft>
                <a:spcPts val="200"/>
              </a:spcAft>
            </a:pPr>
            <a:r>
              <a:rPr sz="1100" b="1" i="0">
                <a:solidFill>
                  <a:srgbClr val="065A82"/>
                </a:solidFill>
                <a:latin typeface="Calibri"/>
              </a:rPr>
              <a:t>Motivation</a:t>
            </a:r>
          </a:p>
          <a:p>
            <a:pPr algn="l">
              <a:spcBef>
                <a:spcPts val="0"/>
              </a:spcBef>
              <a:spcAft>
                <a:spcPts val="200"/>
              </a:spcAft>
            </a:pPr>
            <a:r>
              <a:rPr sz="1200" b="0" i="0">
                <a:solidFill>
                  <a:srgbClr val="1A2733"/>
                </a:solidFill>
                <a:latin typeface="Calibri"/>
              </a:rPr>
              <a:t>Develop an AI-assisted system that can support consistent burn assessment and recovery monitoring while keeping the clinician in the decision-making loop.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411480"/>
            <a:ext cx="457200" cy="45720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457200" cy="457200"/>
          </a:xfrm>
          <a:prstGeom prst="rect">
            <a:avLst/>
          </a:prstGeom>
          <a:noFill/>
        </p:spPr>
        <p:txBody>
          <a:bodyPr wrap="square" anchor="ctr"/>
          <a:lstStyle/>
          <a:p>
            <a:pPr algn="ctr">
              <a:spcBef>
                <a:spcPts val="0"/>
              </a:spcBef>
              <a:spcAft>
                <a:spcPts val="0"/>
              </a:spcAft>
            </a:pPr>
            <a:r>
              <a:rPr sz="2000" b="1" i="0">
                <a:solidFill>
                  <a:srgbClr val="FFFFFF"/>
                </a:solidFill>
                <a:latin typeface="Arial"/>
              </a:rPr>
              <a:t>J</a:t>
            </a:r>
          </a:p>
        </p:txBody>
      </p:sp>
      <p:sp>
        <p:nvSpPr>
          <p:cNvPr id="4" name="TextBox 3"/>
          <p:cNvSpPr txBox="1"/>
          <p:nvPr/>
        </p:nvSpPr>
        <p:spPr>
          <a:xfrm>
            <a:off x="1051560" y="347472"/>
            <a:ext cx="10241280" cy="594360"/>
          </a:xfrm>
          <a:prstGeom prst="rect">
            <a:avLst/>
          </a:prstGeom>
          <a:noFill/>
        </p:spPr>
        <p:txBody>
          <a:bodyPr wrap="square" anchor="ctr"/>
          <a:lstStyle/>
          <a:p>
            <a:pPr algn="l">
              <a:spcBef>
                <a:spcPts val="0"/>
              </a:spcBef>
              <a:spcAft>
                <a:spcPts val="0"/>
              </a:spcAft>
            </a:pPr>
            <a:r>
              <a:rPr sz="2800" b="1" i="0">
                <a:solidFill>
                  <a:srgbClr val="1A2733"/>
                </a:solidFill>
                <a:latin typeface="Cambria"/>
              </a:rPr>
              <a:t>Justification</a:t>
            </a:r>
          </a:p>
        </p:txBody>
      </p:sp>
      <p:sp>
        <p:nvSpPr>
          <p:cNvPr id="5" name="TextBox 4"/>
          <p:cNvSpPr txBox="1"/>
          <p:nvPr/>
        </p:nvSpPr>
        <p:spPr>
          <a:xfrm>
            <a:off x="457200" y="6510528"/>
            <a:ext cx="7315200" cy="274320"/>
          </a:xfrm>
          <a:prstGeom prst="rect">
            <a:avLst/>
          </a:prstGeom>
          <a:noFill/>
        </p:spPr>
        <p:txBody>
          <a:bodyPr wrap="square" anchor="t"/>
          <a:lstStyle/>
          <a:p>
            <a:pPr algn="l">
              <a:spcBef>
                <a:spcPts val="0"/>
              </a:spcBef>
              <a:spcAft>
                <a:spcPts val="0"/>
              </a:spcAft>
            </a:pPr>
            <a:r>
              <a:rPr sz="1000" b="0" i="0">
                <a:solidFill>
                  <a:srgbClr val="5B7A8C"/>
                </a:solidFill>
                <a:latin typeface="Calibri"/>
              </a:rPr>
              <a:t>GIKI FCSE  |  Title Defence</a:t>
            </a:r>
          </a:p>
        </p:txBody>
      </p:sp>
      <p:sp>
        <p:nvSpPr>
          <p:cNvPr id="6" name="TextBox 5"/>
          <p:cNvSpPr txBox="1"/>
          <p:nvPr/>
        </p:nvSpPr>
        <p:spPr>
          <a:xfrm>
            <a:off x="1051560" y="841248"/>
            <a:ext cx="10241280" cy="292608"/>
          </a:xfrm>
          <a:prstGeom prst="rect">
            <a:avLst/>
          </a:prstGeom>
          <a:noFill/>
        </p:spPr>
        <p:txBody>
          <a:bodyPr wrap="square" anchor="t"/>
          <a:lstStyle/>
          <a:p>
            <a:pPr algn="l">
              <a:spcBef>
                <a:spcPts val="0"/>
              </a:spcBef>
              <a:spcAft>
                <a:spcPts val="0"/>
              </a:spcAft>
            </a:pPr>
            <a:r>
              <a:rPr sz="1300" b="1" i="0">
                <a:solidFill>
                  <a:srgbClr val="1C7293"/>
                </a:solidFill>
                <a:latin typeface="Calibri"/>
              </a:rPr>
              <a:t>WHY THIS PROJECT?</a:t>
            </a:r>
          </a:p>
        </p:txBody>
      </p:sp>
      <p:sp>
        <p:nvSpPr>
          <p:cNvPr id="7" name="Rounded Rectangle 6"/>
          <p:cNvSpPr/>
          <p:nvPr/>
        </p:nvSpPr>
        <p:spPr>
          <a:xfrm>
            <a:off x="457200" y="1170432"/>
            <a:ext cx="3611880" cy="2148840"/>
          </a:xfrm>
          <a:prstGeom prst="roundRect">
            <a:avLst>
              <a:gd name="adj" fmla="val 4255"/>
            </a:avLst>
          </a:prstGeom>
          <a:solidFill>
            <a:srgbClr val="F4F8FA"/>
          </a:solidFill>
          <a:ln w="12700">
            <a:solidFill>
              <a:srgbClr val="DC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85216" y="1280160"/>
            <a:ext cx="292608" cy="29260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1280160"/>
            <a:ext cx="292608" cy="292608"/>
          </a:xfrm>
          <a:prstGeom prst="rect">
            <a:avLst/>
          </a:prstGeom>
          <a:noFill/>
        </p:spPr>
        <p:txBody>
          <a:bodyPr wrap="square" anchor="ctr"/>
          <a:lstStyle/>
          <a:p>
            <a:pPr algn="ctr">
              <a:spcBef>
                <a:spcPts val="0"/>
              </a:spcBef>
              <a:spcAft>
                <a:spcPts val="0"/>
              </a:spcAft>
            </a:pPr>
            <a:r>
              <a:rPr sz="1100" b="1" i="0">
                <a:solidFill>
                  <a:srgbClr val="FFFFFF"/>
                </a:solidFill>
                <a:latin typeface="Arial"/>
              </a:rPr>
              <a:t>1</a:t>
            </a:r>
          </a:p>
        </p:txBody>
      </p:sp>
      <p:sp>
        <p:nvSpPr>
          <p:cNvPr id="10" name="TextBox 9"/>
          <p:cNvSpPr txBox="1"/>
          <p:nvPr/>
        </p:nvSpPr>
        <p:spPr>
          <a:xfrm>
            <a:off x="932688" y="1261872"/>
            <a:ext cx="3008376" cy="329184"/>
          </a:xfrm>
          <a:prstGeom prst="rect">
            <a:avLst/>
          </a:prstGeom>
          <a:noFill/>
        </p:spPr>
        <p:txBody>
          <a:bodyPr wrap="square" anchor="ctr"/>
          <a:lstStyle/>
          <a:p>
            <a:pPr algn="l">
              <a:spcBef>
                <a:spcPts val="0"/>
              </a:spcBef>
              <a:spcAft>
                <a:spcPts val="0"/>
              </a:spcAft>
            </a:pPr>
            <a:r>
              <a:rPr sz="1200" b="1" i="0">
                <a:solidFill>
                  <a:srgbClr val="1A2733"/>
                </a:solidFill>
                <a:latin typeface="Calibri"/>
              </a:rPr>
              <a:t>Clinical Relevance</a:t>
            </a:r>
          </a:p>
        </p:txBody>
      </p:sp>
      <p:sp>
        <p:nvSpPr>
          <p:cNvPr id="11" name="TextBox 10"/>
          <p:cNvSpPr txBox="1"/>
          <p:nvPr/>
        </p:nvSpPr>
        <p:spPr>
          <a:xfrm>
            <a:off x="603504" y="1572768"/>
            <a:ext cx="3319272" cy="1673352"/>
          </a:xfrm>
          <a:prstGeom prst="rect">
            <a:avLst/>
          </a:prstGeom>
          <a:noFill/>
        </p:spPr>
        <p:txBody>
          <a:bodyPr wrap="square" anchor="t">
            <a:spAutoFit/>
          </a:bodyPr>
          <a:lstStyle/>
          <a:p>
            <a:pPr algn="l">
              <a:spcBef>
                <a:spcPts val="0"/>
              </a:spcBef>
              <a:spcAft>
                <a:spcPts val="200"/>
              </a:spcAft>
            </a:pPr>
            <a:r>
              <a:rPr sz="1100" b="0" i="0">
                <a:solidFill>
                  <a:srgbClr val="5B7A8C"/>
                </a:solidFill>
                <a:latin typeface="Calibri"/>
              </a:rPr>
              <a:t>•  Burn severity and healing assessment are important parts of burn management.</a:t>
            </a:r>
          </a:p>
          <a:p>
            <a:pPr algn="l">
              <a:spcBef>
                <a:spcPts val="0"/>
              </a:spcBef>
              <a:spcAft>
                <a:spcPts val="200"/>
              </a:spcAft>
            </a:pPr>
            <a:r>
              <a:rPr sz="1100" b="0" i="0">
                <a:solidFill>
                  <a:srgbClr val="5B7A8C"/>
                </a:solidFill>
                <a:latin typeface="Calibri"/>
              </a:rPr>
              <a:t>•  Consistent documentation can support follow-up and monitoring.</a:t>
            </a:r>
          </a:p>
        </p:txBody>
      </p:sp>
      <p:sp>
        <p:nvSpPr>
          <p:cNvPr id="12" name="Rounded Rectangle 11"/>
          <p:cNvSpPr/>
          <p:nvPr/>
        </p:nvSpPr>
        <p:spPr>
          <a:xfrm>
            <a:off x="4233672" y="1170432"/>
            <a:ext cx="3611880" cy="2148840"/>
          </a:xfrm>
          <a:prstGeom prst="roundRect">
            <a:avLst>
              <a:gd name="adj" fmla="val 4255"/>
            </a:avLst>
          </a:prstGeom>
          <a:solidFill>
            <a:srgbClr val="F4F8FA"/>
          </a:solidFill>
          <a:ln w="12700">
            <a:solidFill>
              <a:srgbClr val="DC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61688" y="1280160"/>
            <a:ext cx="292608" cy="29260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61688" y="1280160"/>
            <a:ext cx="292608" cy="292608"/>
          </a:xfrm>
          <a:prstGeom prst="rect">
            <a:avLst/>
          </a:prstGeom>
          <a:noFill/>
        </p:spPr>
        <p:txBody>
          <a:bodyPr wrap="square" anchor="ctr"/>
          <a:lstStyle/>
          <a:p>
            <a:pPr algn="ctr">
              <a:spcBef>
                <a:spcPts val="0"/>
              </a:spcBef>
              <a:spcAft>
                <a:spcPts val="0"/>
              </a:spcAft>
            </a:pPr>
            <a:r>
              <a:rPr sz="1100" b="1" i="0">
                <a:solidFill>
                  <a:srgbClr val="FFFFFF"/>
                </a:solidFill>
                <a:latin typeface="Arial"/>
              </a:rPr>
              <a:t>2</a:t>
            </a:r>
          </a:p>
        </p:txBody>
      </p:sp>
      <p:sp>
        <p:nvSpPr>
          <p:cNvPr id="15" name="TextBox 14"/>
          <p:cNvSpPr txBox="1"/>
          <p:nvPr/>
        </p:nvSpPr>
        <p:spPr>
          <a:xfrm>
            <a:off x="4709160" y="1261872"/>
            <a:ext cx="3008376" cy="329184"/>
          </a:xfrm>
          <a:prstGeom prst="rect">
            <a:avLst/>
          </a:prstGeom>
          <a:noFill/>
        </p:spPr>
        <p:txBody>
          <a:bodyPr wrap="square" anchor="ctr"/>
          <a:lstStyle/>
          <a:p>
            <a:pPr algn="l">
              <a:spcBef>
                <a:spcPts val="0"/>
              </a:spcBef>
              <a:spcAft>
                <a:spcPts val="0"/>
              </a:spcAft>
            </a:pPr>
            <a:r>
              <a:rPr sz="1200" b="1" i="0">
                <a:solidFill>
                  <a:srgbClr val="1A2733"/>
                </a:solidFill>
                <a:latin typeface="Calibri"/>
              </a:rPr>
              <a:t>Technical Relevance</a:t>
            </a:r>
          </a:p>
        </p:txBody>
      </p:sp>
      <p:sp>
        <p:nvSpPr>
          <p:cNvPr id="16" name="TextBox 15"/>
          <p:cNvSpPr txBox="1"/>
          <p:nvPr/>
        </p:nvSpPr>
        <p:spPr>
          <a:xfrm>
            <a:off x="4379976" y="1572768"/>
            <a:ext cx="3319272" cy="1673352"/>
          </a:xfrm>
          <a:prstGeom prst="rect">
            <a:avLst/>
          </a:prstGeom>
          <a:noFill/>
        </p:spPr>
        <p:txBody>
          <a:bodyPr wrap="square" anchor="t">
            <a:spAutoFit/>
          </a:bodyPr>
          <a:lstStyle/>
          <a:p>
            <a:pPr algn="l">
              <a:spcBef>
                <a:spcPts val="0"/>
              </a:spcBef>
              <a:spcAft>
                <a:spcPts val="200"/>
              </a:spcAft>
            </a:pPr>
            <a:r>
              <a:rPr sz="1100" b="0" i="0">
                <a:solidFill>
                  <a:srgbClr val="5B7A8C"/>
                </a:solidFill>
                <a:latin typeface="Calibri"/>
              </a:rPr>
              <a:t>•  Combines computer vision, segmentation, classification, temporal analysis, and multimodal AI.</a:t>
            </a:r>
          </a:p>
          <a:p>
            <a:pPr algn="l">
              <a:spcBef>
                <a:spcPts val="0"/>
              </a:spcBef>
              <a:spcAft>
                <a:spcPts val="200"/>
              </a:spcAft>
            </a:pPr>
            <a:r>
              <a:rPr sz="1100" b="0" i="0">
                <a:solidFill>
                  <a:srgbClr val="5B7A8C"/>
                </a:solidFill>
                <a:latin typeface="Calibri"/>
              </a:rPr>
              <a:t>•  A meaningful Computer Engineering / AI research problem.</a:t>
            </a:r>
          </a:p>
        </p:txBody>
      </p:sp>
      <p:sp>
        <p:nvSpPr>
          <p:cNvPr id="17" name="Rounded Rectangle 16"/>
          <p:cNvSpPr/>
          <p:nvPr/>
        </p:nvSpPr>
        <p:spPr>
          <a:xfrm>
            <a:off x="8010144" y="1170432"/>
            <a:ext cx="3611880" cy="2148840"/>
          </a:xfrm>
          <a:prstGeom prst="roundRect">
            <a:avLst>
              <a:gd name="adj" fmla="val 4255"/>
            </a:avLst>
          </a:prstGeom>
          <a:solidFill>
            <a:srgbClr val="F4F8FA"/>
          </a:solidFill>
          <a:ln w="12700">
            <a:solidFill>
              <a:srgbClr val="DC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38160" y="1280160"/>
            <a:ext cx="292608" cy="292608"/>
          </a:xfrm>
          <a:prstGeom prst="ellipse">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1280160"/>
            <a:ext cx="292608" cy="292608"/>
          </a:xfrm>
          <a:prstGeom prst="rect">
            <a:avLst/>
          </a:prstGeom>
          <a:noFill/>
        </p:spPr>
        <p:txBody>
          <a:bodyPr wrap="square" anchor="ctr"/>
          <a:lstStyle/>
          <a:p>
            <a:pPr algn="ctr">
              <a:spcBef>
                <a:spcPts val="0"/>
              </a:spcBef>
              <a:spcAft>
                <a:spcPts val="0"/>
              </a:spcAft>
            </a:pPr>
            <a:r>
              <a:rPr sz="1100" b="1" i="0">
                <a:solidFill>
                  <a:srgbClr val="FFFFFF"/>
                </a:solidFill>
                <a:latin typeface="Arial"/>
              </a:rPr>
              <a:t>3</a:t>
            </a:r>
          </a:p>
        </p:txBody>
      </p:sp>
      <p:sp>
        <p:nvSpPr>
          <p:cNvPr id="20" name="TextBox 19"/>
          <p:cNvSpPr txBox="1"/>
          <p:nvPr/>
        </p:nvSpPr>
        <p:spPr>
          <a:xfrm>
            <a:off x="8485632" y="1261872"/>
            <a:ext cx="3008376" cy="329184"/>
          </a:xfrm>
          <a:prstGeom prst="rect">
            <a:avLst/>
          </a:prstGeom>
          <a:noFill/>
        </p:spPr>
        <p:txBody>
          <a:bodyPr wrap="square" anchor="ctr"/>
          <a:lstStyle/>
          <a:p>
            <a:pPr algn="l">
              <a:spcBef>
                <a:spcPts val="0"/>
              </a:spcBef>
              <a:spcAft>
                <a:spcPts val="0"/>
              </a:spcAft>
            </a:pPr>
            <a:r>
              <a:rPr sz="1200" b="1" i="0">
                <a:solidFill>
                  <a:srgbClr val="1A2733"/>
                </a:solidFill>
                <a:latin typeface="Calibri"/>
              </a:rPr>
              <a:t>Research Gap</a:t>
            </a:r>
          </a:p>
        </p:txBody>
      </p:sp>
      <p:sp>
        <p:nvSpPr>
          <p:cNvPr id="21" name="TextBox 20"/>
          <p:cNvSpPr txBox="1"/>
          <p:nvPr/>
        </p:nvSpPr>
        <p:spPr>
          <a:xfrm>
            <a:off x="8156448" y="1572768"/>
            <a:ext cx="3319272" cy="1673352"/>
          </a:xfrm>
          <a:prstGeom prst="rect">
            <a:avLst/>
          </a:prstGeom>
          <a:noFill/>
        </p:spPr>
        <p:txBody>
          <a:bodyPr wrap="square" anchor="t">
            <a:spAutoFit/>
          </a:bodyPr>
          <a:lstStyle/>
          <a:p>
            <a:pPr algn="l">
              <a:spcBef>
                <a:spcPts val="0"/>
              </a:spcBef>
              <a:spcAft>
                <a:spcPts val="200"/>
              </a:spcAft>
            </a:pPr>
            <a:r>
              <a:rPr sz="1100" b="0" i="0">
                <a:solidFill>
                  <a:srgbClr val="5B7A8C"/>
                </a:solidFill>
                <a:latin typeface="Calibri"/>
              </a:rPr>
              <a:t>•  Existing work often targets individual tasks rather than an integrated workflow.</a:t>
            </a:r>
          </a:p>
          <a:p>
            <a:pPr algn="l">
              <a:spcBef>
                <a:spcPts val="0"/>
              </a:spcBef>
              <a:spcAft>
                <a:spcPts val="200"/>
              </a:spcAft>
            </a:pPr>
            <a:r>
              <a:rPr sz="1100" b="0" i="0">
                <a:solidFill>
                  <a:srgbClr val="5B7A8C"/>
                </a:solidFill>
                <a:latin typeface="Calibri"/>
              </a:rPr>
              <a:t>•  Longitudinal recovery monitoring is less explored than one-time classification.</a:t>
            </a:r>
          </a:p>
        </p:txBody>
      </p:sp>
      <p:sp>
        <p:nvSpPr>
          <p:cNvPr id="22" name="Rounded Rectangle 21"/>
          <p:cNvSpPr/>
          <p:nvPr/>
        </p:nvSpPr>
        <p:spPr>
          <a:xfrm>
            <a:off x="457200" y="3465576"/>
            <a:ext cx="5541264" cy="2148840"/>
          </a:xfrm>
          <a:prstGeom prst="roundRect">
            <a:avLst>
              <a:gd name="adj" fmla="val 4255"/>
            </a:avLst>
          </a:prstGeom>
          <a:solidFill>
            <a:srgbClr val="F4F8FA"/>
          </a:solidFill>
          <a:ln w="12700">
            <a:solidFill>
              <a:srgbClr val="DC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5216" y="3575304"/>
            <a:ext cx="292608" cy="29260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5216" y="3575304"/>
            <a:ext cx="292608" cy="292608"/>
          </a:xfrm>
          <a:prstGeom prst="rect">
            <a:avLst/>
          </a:prstGeom>
          <a:noFill/>
        </p:spPr>
        <p:txBody>
          <a:bodyPr wrap="square" anchor="ctr"/>
          <a:lstStyle/>
          <a:p>
            <a:pPr algn="ctr">
              <a:spcBef>
                <a:spcPts val="0"/>
              </a:spcBef>
              <a:spcAft>
                <a:spcPts val="0"/>
              </a:spcAft>
            </a:pPr>
            <a:r>
              <a:rPr sz="1100" b="1" i="0">
                <a:solidFill>
                  <a:srgbClr val="FFFFFF"/>
                </a:solidFill>
                <a:latin typeface="Arial"/>
              </a:rPr>
              <a:t>4</a:t>
            </a:r>
          </a:p>
        </p:txBody>
      </p:sp>
      <p:sp>
        <p:nvSpPr>
          <p:cNvPr id="25" name="TextBox 24"/>
          <p:cNvSpPr txBox="1"/>
          <p:nvPr/>
        </p:nvSpPr>
        <p:spPr>
          <a:xfrm>
            <a:off x="932688" y="3557016"/>
            <a:ext cx="4937760" cy="329184"/>
          </a:xfrm>
          <a:prstGeom prst="rect">
            <a:avLst/>
          </a:prstGeom>
          <a:noFill/>
        </p:spPr>
        <p:txBody>
          <a:bodyPr wrap="square" anchor="ctr"/>
          <a:lstStyle/>
          <a:p>
            <a:pPr algn="l">
              <a:spcBef>
                <a:spcPts val="0"/>
              </a:spcBef>
              <a:spcAft>
                <a:spcPts val="0"/>
              </a:spcAft>
            </a:pPr>
            <a:r>
              <a:rPr sz="1200" b="1" i="0">
                <a:solidFill>
                  <a:srgbClr val="1A2733"/>
                </a:solidFill>
                <a:latin typeface="Calibri"/>
              </a:rPr>
              <a:t>Local Relevance</a:t>
            </a:r>
          </a:p>
        </p:txBody>
      </p:sp>
      <p:sp>
        <p:nvSpPr>
          <p:cNvPr id="26" name="TextBox 25"/>
          <p:cNvSpPr txBox="1"/>
          <p:nvPr/>
        </p:nvSpPr>
        <p:spPr>
          <a:xfrm>
            <a:off x="603504" y="3867912"/>
            <a:ext cx="5248656" cy="1673352"/>
          </a:xfrm>
          <a:prstGeom prst="rect">
            <a:avLst/>
          </a:prstGeom>
          <a:noFill/>
        </p:spPr>
        <p:txBody>
          <a:bodyPr wrap="square" anchor="t">
            <a:spAutoFit/>
          </a:bodyPr>
          <a:lstStyle/>
          <a:p>
            <a:pPr algn="l">
              <a:spcBef>
                <a:spcPts val="0"/>
              </a:spcBef>
              <a:spcAft>
                <a:spcPts val="200"/>
              </a:spcAft>
            </a:pPr>
            <a:r>
              <a:rPr sz="1100" b="0" i="0">
                <a:solidFill>
                  <a:srgbClr val="5B7A8C"/>
                </a:solidFill>
                <a:latin typeface="Calibri"/>
              </a:rPr>
              <a:t>•  Designed with Pakistani healthcare data-collection and workflow realities in mind.</a:t>
            </a:r>
          </a:p>
          <a:p>
            <a:pPr algn="l">
              <a:spcBef>
                <a:spcPts val="0"/>
              </a:spcBef>
              <a:spcAft>
                <a:spcPts val="200"/>
              </a:spcAft>
            </a:pPr>
            <a:r>
              <a:rPr sz="1100" b="0" i="0">
                <a:solidFill>
                  <a:srgbClr val="5B7A8C"/>
                </a:solidFill>
                <a:latin typeface="Calibri"/>
              </a:rPr>
              <a:t>•  Addresses a locally relevant research problem, not a deployed clinical product.</a:t>
            </a:r>
          </a:p>
        </p:txBody>
      </p:sp>
      <p:sp>
        <p:nvSpPr>
          <p:cNvPr id="27" name="Rounded Rectangle 26"/>
          <p:cNvSpPr/>
          <p:nvPr/>
        </p:nvSpPr>
        <p:spPr>
          <a:xfrm>
            <a:off x="6163056" y="3465576"/>
            <a:ext cx="5541264" cy="2148840"/>
          </a:xfrm>
          <a:prstGeom prst="roundRect">
            <a:avLst>
              <a:gd name="adj" fmla="val 4255"/>
            </a:avLst>
          </a:prstGeom>
          <a:solidFill>
            <a:srgbClr val="F4F8FA"/>
          </a:solidFill>
          <a:ln w="12700">
            <a:solidFill>
              <a:srgbClr val="DC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291072" y="3575304"/>
            <a:ext cx="292608" cy="29260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91072" y="3575304"/>
            <a:ext cx="292608" cy="292608"/>
          </a:xfrm>
          <a:prstGeom prst="rect">
            <a:avLst/>
          </a:prstGeom>
          <a:noFill/>
        </p:spPr>
        <p:txBody>
          <a:bodyPr wrap="square" anchor="ctr"/>
          <a:lstStyle/>
          <a:p>
            <a:pPr algn="ctr">
              <a:spcBef>
                <a:spcPts val="0"/>
              </a:spcBef>
              <a:spcAft>
                <a:spcPts val="0"/>
              </a:spcAft>
            </a:pPr>
            <a:r>
              <a:rPr sz="1100" b="1" i="0">
                <a:solidFill>
                  <a:srgbClr val="FFFFFF"/>
                </a:solidFill>
                <a:latin typeface="Arial"/>
              </a:rPr>
              <a:t>5</a:t>
            </a:r>
          </a:p>
        </p:txBody>
      </p:sp>
      <p:sp>
        <p:nvSpPr>
          <p:cNvPr id="30" name="TextBox 29"/>
          <p:cNvSpPr txBox="1"/>
          <p:nvPr/>
        </p:nvSpPr>
        <p:spPr>
          <a:xfrm>
            <a:off x="6638544" y="3557016"/>
            <a:ext cx="4937760" cy="329184"/>
          </a:xfrm>
          <a:prstGeom prst="rect">
            <a:avLst/>
          </a:prstGeom>
          <a:noFill/>
        </p:spPr>
        <p:txBody>
          <a:bodyPr wrap="square" anchor="ctr"/>
          <a:lstStyle/>
          <a:p>
            <a:pPr algn="l">
              <a:spcBef>
                <a:spcPts val="0"/>
              </a:spcBef>
              <a:spcAft>
                <a:spcPts val="0"/>
              </a:spcAft>
            </a:pPr>
            <a:r>
              <a:rPr sz="1200" b="1" i="0">
                <a:solidFill>
                  <a:srgbClr val="1A2733"/>
                </a:solidFill>
                <a:latin typeface="Calibri"/>
              </a:rPr>
              <a:t>Feasibility</a:t>
            </a:r>
          </a:p>
        </p:txBody>
      </p:sp>
      <p:sp>
        <p:nvSpPr>
          <p:cNvPr id="31" name="TextBox 30"/>
          <p:cNvSpPr txBox="1"/>
          <p:nvPr/>
        </p:nvSpPr>
        <p:spPr>
          <a:xfrm>
            <a:off x="6309360" y="3867912"/>
            <a:ext cx="5248656" cy="1673352"/>
          </a:xfrm>
          <a:prstGeom prst="rect">
            <a:avLst/>
          </a:prstGeom>
          <a:noFill/>
        </p:spPr>
        <p:txBody>
          <a:bodyPr wrap="square" anchor="t">
            <a:spAutoFit/>
          </a:bodyPr>
          <a:lstStyle/>
          <a:p>
            <a:pPr algn="l">
              <a:spcBef>
                <a:spcPts val="0"/>
              </a:spcBef>
              <a:spcAft>
                <a:spcPts val="200"/>
              </a:spcAft>
            </a:pPr>
            <a:r>
              <a:rPr sz="1100" b="0" i="0">
                <a:solidFill>
                  <a:srgbClr val="5B7A8C"/>
                </a:solidFill>
                <a:latin typeface="Calibri"/>
              </a:rPr>
              <a:t>•  Modern deep-learning and vision-language methods make a prototype tractable.</a:t>
            </a:r>
          </a:p>
          <a:p>
            <a:pPr algn="l">
              <a:spcBef>
                <a:spcPts val="0"/>
              </a:spcBef>
              <a:spcAft>
                <a:spcPts val="200"/>
              </a:spcAft>
            </a:pPr>
            <a:r>
              <a:rPr sz="1100" b="0" i="0">
                <a:solidFill>
                  <a:srgbClr val="5B7A8C"/>
                </a:solidFill>
                <a:latin typeface="Calibri"/>
              </a:rPr>
              <a:t>•  The project can be evaluated incrementally through defined components.</a:t>
            </a:r>
          </a:p>
        </p:txBody>
      </p:sp>
      <p:sp>
        <p:nvSpPr>
          <p:cNvPr id="32" name="TextBox 31"/>
          <p:cNvSpPr txBox="1"/>
          <p:nvPr/>
        </p:nvSpPr>
        <p:spPr>
          <a:xfrm>
            <a:off x="457200" y="5742432"/>
            <a:ext cx="11274552" cy="640080"/>
          </a:xfrm>
          <a:prstGeom prst="rect">
            <a:avLst/>
          </a:prstGeom>
          <a:noFill/>
        </p:spPr>
        <p:txBody>
          <a:bodyPr wrap="square" anchor="ctr"/>
          <a:lstStyle/>
          <a:p>
            <a:pPr algn="l">
              <a:spcBef>
                <a:spcPts val="0"/>
              </a:spcBef>
              <a:spcAft>
                <a:spcPts val="0"/>
              </a:spcAft>
            </a:pPr>
            <a:r>
              <a:rPr sz="1300" b="0" i="0">
                <a:solidFill>
                  <a:srgbClr val="5B7A8C"/>
                </a:solidFill>
                <a:latin typeface="Calibri"/>
              </a:rPr>
              <a:t>This is proposed as an AI-assisted decision-support / research system. It is not a replacement for clinicians, and clinical validity is not claimed prior to evaluation.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411480"/>
            <a:ext cx="457200" cy="45720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457200" cy="457200"/>
          </a:xfrm>
          <a:prstGeom prst="rect">
            <a:avLst/>
          </a:prstGeom>
          <a:noFill/>
        </p:spPr>
        <p:txBody>
          <a:bodyPr wrap="square" anchor="ctr"/>
          <a:lstStyle/>
          <a:p>
            <a:pPr algn="ctr">
              <a:spcBef>
                <a:spcPts val="0"/>
              </a:spcBef>
              <a:spcAft>
                <a:spcPts val="0"/>
              </a:spcAft>
            </a:pPr>
            <a:r>
              <a:rPr sz="2000" b="1" i="0">
                <a:solidFill>
                  <a:srgbClr val="FFFFFF"/>
                </a:solidFill>
                <a:latin typeface="Arial"/>
              </a:rPr>
              <a:t>S</a:t>
            </a:r>
          </a:p>
        </p:txBody>
      </p:sp>
      <p:sp>
        <p:nvSpPr>
          <p:cNvPr id="4" name="TextBox 3"/>
          <p:cNvSpPr txBox="1"/>
          <p:nvPr/>
        </p:nvSpPr>
        <p:spPr>
          <a:xfrm>
            <a:off x="1051560" y="347472"/>
            <a:ext cx="10241280" cy="594360"/>
          </a:xfrm>
          <a:prstGeom prst="rect">
            <a:avLst/>
          </a:prstGeom>
          <a:noFill/>
        </p:spPr>
        <p:txBody>
          <a:bodyPr wrap="square" anchor="ctr"/>
          <a:lstStyle/>
          <a:p>
            <a:pPr algn="l">
              <a:spcBef>
                <a:spcPts val="0"/>
              </a:spcBef>
              <a:spcAft>
                <a:spcPts val="0"/>
              </a:spcAft>
            </a:pPr>
            <a:r>
              <a:rPr sz="2800" b="1" i="0">
                <a:solidFill>
                  <a:srgbClr val="1A2733"/>
                </a:solidFill>
                <a:latin typeface="Cambria"/>
              </a:rPr>
              <a:t>Software Engineering &amp; Systems Knowledge</a:t>
            </a:r>
          </a:p>
        </p:txBody>
      </p:sp>
      <p:sp>
        <p:nvSpPr>
          <p:cNvPr id="5" name="TextBox 4"/>
          <p:cNvSpPr txBox="1"/>
          <p:nvPr/>
        </p:nvSpPr>
        <p:spPr>
          <a:xfrm>
            <a:off x="457200" y="6510528"/>
            <a:ext cx="7315200" cy="274320"/>
          </a:xfrm>
          <a:prstGeom prst="rect">
            <a:avLst/>
          </a:prstGeom>
          <a:noFill/>
        </p:spPr>
        <p:txBody>
          <a:bodyPr wrap="square" anchor="t"/>
          <a:lstStyle/>
          <a:p>
            <a:pPr algn="l">
              <a:spcBef>
                <a:spcPts val="0"/>
              </a:spcBef>
              <a:spcAft>
                <a:spcPts val="0"/>
              </a:spcAft>
            </a:pPr>
            <a:r>
              <a:rPr sz="1000" b="0" i="0">
                <a:solidFill>
                  <a:srgbClr val="5B7A8C"/>
                </a:solidFill>
                <a:latin typeface="Calibri"/>
              </a:rPr>
              <a:t>GIKI FCSE  |  Title Defence</a:t>
            </a:r>
          </a:p>
        </p:txBody>
      </p:sp>
      <p:sp>
        <p:nvSpPr>
          <p:cNvPr id="6" name="Rounded Rectangle 5"/>
          <p:cNvSpPr/>
          <p:nvPr/>
        </p:nvSpPr>
        <p:spPr>
          <a:xfrm>
            <a:off x="384048" y="1024128"/>
            <a:ext cx="3246120" cy="1389888"/>
          </a:xfrm>
          <a:prstGeom prst="roundRect">
            <a:avLst>
              <a:gd name="adj" fmla="val 4255"/>
            </a:avLst>
          </a:prstGeom>
          <a:solidFill>
            <a:srgbClr val="F4F8FA"/>
          </a:solidFill>
          <a:ln w="12700">
            <a:solidFill>
              <a:srgbClr val="DC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12064" y="1133856"/>
            <a:ext cx="292608" cy="292608"/>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 y="1133856"/>
            <a:ext cx="292608" cy="292608"/>
          </a:xfrm>
          <a:prstGeom prst="rect">
            <a:avLst/>
          </a:prstGeom>
          <a:noFill/>
        </p:spPr>
        <p:txBody>
          <a:bodyPr wrap="square" anchor="ctr"/>
          <a:lstStyle/>
          <a:p>
            <a:pPr algn="ctr">
              <a:spcBef>
                <a:spcPts val="0"/>
              </a:spcBef>
              <a:spcAft>
                <a:spcPts val="0"/>
              </a:spcAft>
            </a:pPr>
            <a:r>
              <a:rPr sz="1100" b="1" i="0">
                <a:solidFill>
                  <a:srgbClr val="FFFFFF"/>
                </a:solidFill>
                <a:latin typeface="Arial"/>
              </a:rPr>
              <a:t>1</a:t>
            </a:r>
          </a:p>
        </p:txBody>
      </p:sp>
      <p:sp>
        <p:nvSpPr>
          <p:cNvPr id="9" name="TextBox 8"/>
          <p:cNvSpPr txBox="1"/>
          <p:nvPr/>
        </p:nvSpPr>
        <p:spPr>
          <a:xfrm>
            <a:off x="859536" y="1115568"/>
            <a:ext cx="2642616" cy="329184"/>
          </a:xfrm>
          <a:prstGeom prst="rect">
            <a:avLst/>
          </a:prstGeom>
          <a:noFill/>
        </p:spPr>
        <p:txBody>
          <a:bodyPr wrap="square" anchor="ctr"/>
          <a:lstStyle/>
          <a:p>
            <a:pPr algn="l">
              <a:spcBef>
                <a:spcPts val="0"/>
              </a:spcBef>
              <a:spcAft>
                <a:spcPts val="0"/>
              </a:spcAft>
            </a:pPr>
            <a:r>
              <a:rPr sz="1200" b="1" i="0">
                <a:solidFill>
                  <a:srgbClr val="1A2733"/>
                </a:solidFill>
                <a:latin typeface="Calibri"/>
              </a:rPr>
              <a:t>Requirements Engineering</a:t>
            </a:r>
          </a:p>
        </p:txBody>
      </p:sp>
      <p:sp>
        <p:nvSpPr>
          <p:cNvPr id="10" name="TextBox 9"/>
          <p:cNvSpPr txBox="1"/>
          <p:nvPr/>
        </p:nvSpPr>
        <p:spPr>
          <a:xfrm>
            <a:off x="530352" y="1426464"/>
            <a:ext cx="2953512" cy="914400"/>
          </a:xfrm>
          <a:prstGeom prst="rect">
            <a:avLst/>
          </a:prstGeom>
          <a:noFill/>
        </p:spPr>
        <p:txBody>
          <a:bodyPr wrap="square" anchor="t">
            <a:spAutoFit/>
          </a:bodyPr>
          <a:lstStyle/>
          <a:p>
            <a:pPr algn="l">
              <a:spcBef>
                <a:spcPts val="0"/>
              </a:spcBef>
              <a:spcAft>
                <a:spcPts val="200"/>
              </a:spcAft>
            </a:pPr>
            <a:r>
              <a:rPr sz="1100" b="0" i="0">
                <a:solidFill>
                  <a:srgbClr val="5B7A8C"/>
                </a:solidFill>
                <a:latin typeface="Calibri"/>
              </a:rPr>
              <a:t>•  Functional &amp; non-functional requirements</a:t>
            </a:r>
          </a:p>
          <a:p>
            <a:pPr algn="l">
              <a:spcBef>
                <a:spcPts val="0"/>
              </a:spcBef>
              <a:spcAft>
                <a:spcPts val="200"/>
              </a:spcAft>
            </a:pPr>
            <a:r>
              <a:rPr sz="1100" b="0" i="0">
                <a:solidFill>
                  <a:srgbClr val="5B7A8C"/>
                </a:solidFill>
                <a:latin typeface="Calibri"/>
              </a:rPr>
              <a:t>•  Clinical / user and data requirements</a:t>
            </a:r>
          </a:p>
          <a:p>
            <a:pPr algn="l">
              <a:spcBef>
                <a:spcPts val="0"/>
              </a:spcBef>
              <a:spcAft>
                <a:spcPts val="200"/>
              </a:spcAft>
            </a:pPr>
            <a:r>
              <a:rPr sz="1100" b="0" i="0">
                <a:solidFill>
                  <a:srgbClr val="5B7A8C"/>
                </a:solidFill>
                <a:latin typeface="Calibri"/>
              </a:rPr>
              <a:t>•  Privacy and security considerations</a:t>
            </a:r>
          </a:p>
        </p:txBody>
      </p:sp>
      <p:sp>
        <p:nvSpPr>
          <p:cNvPr id="11" name="Rounded Rectangle 10"/>
          <p:cNvSpPr/>
          <p:nvPr/>
        </p:nvSpPr>
        <p:spPr>
          <a:xfrm>
            <a:off x="384048" y="2505456"/>
            <a:ext cx="3246120" cy="1389888"/>
          </a:xfrm>
          <a:prstGeom prst="roundRect">
            <a:avLst>
              <a:gd name="adj" fmla="val 4255"/>
            </a:avLst>
          </a:prstGeom>
          <a:solidFill>
            <a:srgbClr val="F4F8FA"/>
          </a:solidFill>
          <a:ln w="12700">
            <a:solidFill>
              <a:srgbClr val="DC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12064" y="2615184"/>
            <a:ext cx="292608" cy="292608"/>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 y="2615184"/>
            <a:ext cx="292608" cy="292608"/>
          </a:xfrm>
          <a:prstGeom prst="rect">
            <a:avLst/>
          </a:prstGeom>
          <a:noFill/>
        </p:spPr>
        <p:txBody>
          <a:bodyPr wrap="square" anchor="ctr"/>
          <a:lstStyle/>
          <a:p>
            <a:pPr algn="ctr">
              <a:spcBef>
                <a:spcPts val="0"/>
              </a:spcBef>
              <a:spcAft>
                <a:spcPts val="0"/>
              </a:spcAft>
            </a:pPr>
            <a:r>
              <a:rPr sz="1100" b="1" i="0">
                <a:solidFill>
                  <a:srgbClr val="FFFFFF"/>
                </a:solidFill>
                <a:latin typeface="Arial"/>
              </a:rPr>
              <a:t>2</a:t>
            </a:r>
          </a:p>
        </p:txBody>
      </p:sp>
      <p:sp>
        <p:nvSpPr>
          <p:cNvPr id="14" name="TextBox 13"/>
          <p:cNvSpPr txBox="1"/>
          <p:nvPr/>
        </p:nvSpPr>
        <p:spPr>
          <a:xfrm>
            <a:off x="859536" y="2596896"/>
            <a:ext cx="2642616" cy="329184"/>
          </a:xfrm>
          <a:prstGeom prst="rect">
            <a:avLst/>
          </a:prstGeom>
          <a:noFill/>
        </p:spPr>
        <p:txBody>
          <a:bodyPr wrap="square" anchor="ctr"/>
          <a:lstStyle/>
          <a:p>
            <a:pPr algn="l">
              <a:spcBef>
                <a:spcPts val="0"/>
              </a:spcBef>
              <a:spcAft>
                <a:spcPts val="0"/>
              </a:spcAft>
            </a:pPr>
            <a:r>
              <a:rPr sz="1200" b="1" i="0">
                <a:solidFill>
                  <a:srgbClr val="1A2733"/>
                </a:solidFill>
                <a:latin typeface="Calibri"/>
              </a:rPr>
              <a:t>Data Engineering</a:t>
            </a:r>
          </a:p>
        </p:txBody>
      </p:sp>
      <p:sp>
        <p:nvSpPr>
          <p:cNvPr id="15" name="TextBox 14"/>
          <p:cNvSpPr txBox="1"/>
          <p:nvPr/>
        </p:nvSpPr>
        <p:spPr>
          <a:xfrm>
            <a:off x="530352" y="2907792"/>
            <a:ext cx="2953512" cy="914400"/>
          </a:xfrm>
          <a:prstGeom prst="rect">
            <a:avLst/>
          </a:prstGeom>
          <a:noFill/>
        </p:spPr>
        <p:txBody>
          <a:bodyPr wrap="square" anchor="t">
            <a:spAutoFit/>
          </a:bodyPr>
          <a:lstStyle/>
          <a:p>
            <a:pPr algn="l">
              <a:spcBef>
                <a:spcPts val="0"/>
              </a:spcBef>
              <a:spcAft>
                <a:spcPts val="200"/>
              </a:spcAft>
            </a:pPr>
            <a:r>
              <a:rPr sz="1100" b="0" i="0">
                <a:solidFill>
                  <a:srgbClr val="5B7A8C"/>
                </a:solidFill>
                <a:latin typeface="Calibri"/>
              </a:rPr>
              <a:t>•  Collection, preprocessing, annotation</a:t>
            </a:r>
          </a:p>
          <a:p>
            <a:pPr algn="l">
              <a:spcBef>
                <a:spcPts val="0"/>
              </a:spcBef>
              <a:spcAft>
                <a:spcPts val="200"/>
              </a:spcAft>
            </a:pPr>
            <a:r>
              <a:rPr sz="1100" b="0" i="0">
                <a:solidFill>
                  <a:srgbClr val="5B7A8C"/>
                </a:solidFill>
                <a:latin typeface="Calibri"/>
              </a:rPr>
              <a:t>•  Versioning; train / val / test split</a:t>
            </a:r>
          </a:p>
          <a:p>
            <a:pPr algn="l">
              <a:spcBef>
                <a:spcPts val="0"/>
              </a:spcBef>
              <a:spcAft>
                <a:spcPts val="200"/>
              </a:spcAft>
            </a:pPr>
            <a:r>
              <a:rPr sz="1100" b="0" i="0">
                <a:solidFill>
                  <a:srgbClr val="5B7A8C"/>
                </a:solidFill>
                <a:latin typeface="Calibri"/>
              </a:rPr>
              <a:t>•  Data quality checks</a:t>
            </a:r>
          </a:p>
        </p:txBody>
      </p:sp>
      <p:sp>
        <p:nvSpPr>
          <p:cNvPr id="16" name="Rounded Rectangle 15"/>
          <p:cNvSpPr/>
          <p:nvPr/>
        </p:nvSpPr>
        <p:spPr>
          <a:xfrm>
            <a:off x="384048" y="3986784"/>
            <a:ext cx="3246120" cy="1572768"/>
          </a:xfrm>
          <a:prstGeom prst="roundRect">
            <a:avLst>
              <a:gd name="adj" fmla="val 4255"/>
            </a:avLst>
          </a:prstGeom>
          <a:solidFill>
            <a:srgbClr val="F4F8FA"/>
          </a:solidFill>
          <a:ln w="12700">
            <a:solidFill>
              <a:srgbClr val="DC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12064" y="4096512"/>
            <a:ext cx="292608" cy="29260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2064" y="4096512"/>
            <a:ext cx="292608" cy="292608"/>
          </a:xfrm>
          <a:prstGeom prst="rect">
            <a:avLst/>
          </a:prstGeom>
          <a:noFill/>
        </p:spPr>
        <p:txBody>
          <a:bodyPr wrap="square" anchor="ctr"/>
          <a:lstStyle/>
          <a:p>
            <a:pPr algn="ctr">
              <a:spcBef>
                <a:spcPts val="0"/>
              </a:spcBef>
              <a:spcAft>
                <a:spcPts val="0"/>
              </a:spcAft>
            </a:pPr>
            <a:r>
              <a:rPr sz="1100" b="1" i="0">
                <a:solidFill>
                  <a:srgbClr val="FFFFFF"/>
                </a:solidFill>
                <a:latin typeface="Arial"/>
              </a:rPr>
              <a:t>3</a:t>
            </a:r>
          </a:p>
        </p:txBody>
      </p:sp>
      <p:sp>
        <p:nvSpPr>
          <p:cNvPr id="19" name="TextBox 18"/>
          <p:cNvSpPr txBox="1"/>
          <p:nvPr/>
        </p:nvSpPr>
        <p:spPr>
          <a:xfrm>
            <a:off x="859536" y="4078224"/>
            <a:ext cx="2642616" cy="329184"/>
          </a:xfrm>
          <a:prstGeom prst="rect">
            <a:avLst/>
          </a:prstGeom>
          <a:noFill/>
        </p:spPr>
        <p:txBody>
          <a:bodyPr wrap="square" anchor="ctr"/>
          <a:lstStyle/>
          <a:p>
            <a:pPr algn="l">
              <a:spcBef>
                <a:spcPts val="0"/>
              </a:spcBef>
              <a:spcAft>
                <a:spcPts val="0"/>
              </a:spcAft>
            </a:pPr>
            <a:r>
              <a:rPr sz="1200" b="1" i="0">
                <a:solidFill>
                  <a:srgbClr val="1A2733"/>
                </a:solidFill>
                <a:latin typeface="Calibri"/>
              </a:rPr>
              <a:t>AI / ML Pipeline</a:t>
            </a:r>
          </a:p>
        </p:txBody>
      </p:sp>
      <p:sp>
        <p:nvSpPr>
          <p:cNvPr id="20" name="TextBox 19"/>
          <p:cNvSpPr txBox="1"/>
          <p:nvPr/>
        </p:nvSpPr>
        <p:spPr>
          <a:xfrm>
            <a:off x="530352" y="4389120"/>
            <a:ext cx="2953512" cy="1097280"/>
          </a:xfrm>
          <a:prstGeom prst="rect">
            <a:avLst/>
          </a:prstGeom>
          <a:noFill/>
        </p:spPr>
        <p:txBody>
          <a:bodyPr wrap="square" anchor="t">
            <a:spAutoFit/>
          </a:bodyPr>
          <a:lstStyle/>
          <a:p>
            <a:pPr algn="l">
              <a:spcBef>
                <a:spcPts val="0"/>
              </a:spcBef>
              <a:spcAft>
                <a:spcPts val="200"/>
              </a:spcAft>
            </a:pPr>
            <a:r>
              <a:rPr sz="1100" b="0" i="0">
                <a:solidFill>
                  <a:srgbClr val="5B7A8C"/>
                </a:solidFill>
                <a:latin typeface="Calibri"/>
              </a:rPr>
              <a:t>•  Detection / localization &amp; segmentation</a:t>
            </a:r>
          </a:p>
          <a:p>
            <a:pPr algn="l">
              <a:spcBef>
                <a:spcPts val="0"/>
              </a:spcBef>
              <a:spcAft>
                <a:spcPts val="200"/>
              </a:spcAft>
            </a:pPr>
            <a:r>
              <a:rPr sz="1100" b="0" i="0">
                <a:solidFill>
                  <a:srgbClr val="5B7A8C"/>
                </a:solidFill>
                <a:latin typeface="Calibri"/>
              </a:rPr>
              <a:t>•  Severity classification / estimation</a:t>
            </a:r>
          </a:p>
          <a:p>
            <a:pPr algn="l">
              <a:spcBef>
                <a:spcPts val="0"/>
              </a:spcBef>
              <a:spcAft>
                <a:spcPts val="200"/>
              </a:spcAft>
            </a:pPr>
            <a:r>
              <a:rPr sz="1100" b="0" i="0">
                <a:solidFill>
                  <a:srgbClr val="5B7A8C"/>
                </a:solidFill>
                <a:latin typeface="Calibri"/>
              </a:rPr>
              <a:t>•  Recovery analysis &amp; VLM reporting</a:t>
            </a:r>
          </a:p>
        </p:txBody>
      </p:sp>
      <p:sp>
        <p:nvSpPr>
          <p:cNvPr id="21" name="Rounded Rectangle 20"/>
          <p:cNvSpPr/>
          <p:nvPr/>
        </p:nvSpPr>
        <p:spPr>
          <a:xfrm>
            <a:off x="3749039" y="1024128"/>
            <a:ext cx="4681728" cy="4535424"/>
          </a:xfrm>
          <a:prstGeom prst="roundRect">
            <a:avLst>
              <a:gd name="adj" fmla="val 4255"/>
            </a:avLst>
          </a:prstGeom>
          <a:solidFill>
            <a:srgbClr val="F4F8FA"/>
          </a:solidFill>
          <a:ln w="12700">
            <a:solidFill>
              <a:srgbClr val="DC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877055" y="1133856"/>
            <a:ext cx="292608" cy="292608"/>
          </a:xfrm>
          <a:prstGeom prst="ellipse">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77055" y="1133856"/>
            <a:ext cx="292608" cy="292608"/>
          </a:xfrm>
          <a:prstGeom prst="rect">
            <a:avLst/>
          </a:prstGeom>
          <a:noFill/>
        </p:spPr>
        <p:txBody>
          <a:bodyPr wrap="square" anchor="ctr"/>
          <a:lstStyle/>
          <a:p>
            <a:pPr algn="ctr">
              <a:spcBef>
                <a:spcPts val="0"/>
              </a:spcBef>
              <a:spcAft>
                <a:spcPts val="0"/>
              </a:spcAft>
            </a:pPr>
            <a:r>
              <a:rPr sz="1100" b="1" i="0">
                <a:solidFill>
                  <a:srgbClr val="FFFFFF"/>
                </a:solidFill>
                <a:latin typeface="Arial"/>
              </a:rPr>
              <a:t>4</a:t>
            </a:r>
          </a:p>
        </p:txBody>
      </p:sp>
      <p:sp>
        <p:nvSpPr>
          <p:cNvPr id="24" name="TextBox 23"/>
          <p:cNvSpPr txBox="1"/>
          <p:nvPr/>
        </p:nvSpPr>
        <p:spPr>
          <a:xfrm>
            <a:off x="4224527" y="1115568"/>
            <a:ext cx="4023360" cy="329184"/>
          </a:xfrm>
          <a:prstGeom prst="rect">
            <a:avLst/>
          </a:prstGeom>
          <a:noFill/>
        </p:spPr>
        <p:txBody>
          <a:bodyPr wrap="square" anchor="ctr"/>
          <a:lstStyle/>
          <a:p>
            <a:pPr algn="l">
              <a:spcBef>
                <a:spcPts val="0"/>
              </a:spcBef>
              <a:spcAft>
                <a:spcPts val="0"/>
              </a:spcAft>
            </a:pPr>
            <a:r>
              <a:rPr sz="1200" b="1" i="0">
                <a:solidFill>
                  <a:srgbClr val="1A2733"/>
                </a:solidFill>
                <a:latin typeface="Calibri"/>
              </a:rPr>
              <a:t>Software Architecture</a:t>
            </a:r>
          </a:p>
        </p:txBody>
      </p:sp>
      <p:sp>
        <p:nvSpPr>
          <p:cNvPr id="25" name="Rounded Rectangle 24"/>
          <p:cNvSpPr/>
          <p:nvPr/>
        </p:nvSpPr>
        <p:spPr>
          <a:xfrm>
            <a:off x="4078223" y="1481328"/>
            <a:ext cx="4023360" cy="347472"/>
          </a:xfrm>
          <a:prstGeom prst="roundRect">
            <a:avLst>
              <a:gd name="adj" fmla="val 4255"/>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78223" y="1481328"/>
            <a:ext cx="4023360" cy="347472"/>
          </a:xfrm>
          <a:prstGeom prst="rect">
            <a:avLst/>
          </a:prstGeom>
          <a:noFill/>
        </p:spPr>
        <p:txBody>
          <a:bodyPr wrap="square" anchor="ctr"/>
          <a:lstStyle/>
          <a:p>
            <a:pPr algn="ctr">
              <a:spcBef>
                <a:spcPts val="0"/>
              </a:spcBef>
              <a:spcAft>
                <a:spcPts val="0"/>
              </a:spcAft>
            </a:pPr>
            <a:r>
              <a:rPr sz="1100" b="1" i="0">
                <a:solidFill>
                  <a:srgbClr val="FFFFFF"/>
                </a:solidFill>
                <a:latin typeface="Calibri"/>
              </a:rPr>
              <a:t>User / Clinician</a:t>
            </a:r>
          </a:p>
        </p:txBody>
      </p:sp>
      <p:sp>
        <p:nvSpPr>
          <p:cNvPr id="27" name="TextBox 26"/>
          <p:cNvSpPr txBox="1"/>
          <p:nvPr/>
        </p:nvSpPr>
        <p:spPr>
          <a:xfrm>
            <a:off x="4078223" y="1828800"/>
            <a:ext cx="4023360" cy="164592"/>
          </a:xfrm>
          <a:prstGeom prst="rect">
            <a:avLst/>
          </a:prstGeom>
          <a:noFill/>
        </p:spPr>
        <p:txBody>
          <a:bodyPr wrap="square" anchor="ctr"/>
          <a:lstStyle/>
          <a:p>
            <a:pPr algn="ctr">
              <a:spcBef>
                <a:spcPts val="0"/>
              </a:spcBef>
              <a:spcAft>
                <a:spcPts val="0"/>
              </a:spcAft>
            </a:pPr>
            <a:r>
              <a:rPr sz="1400" b="1" i="0">
                <a:solidFill>
                  <a:srgbClr val="1C7293"/>
                </a:solidFill>
                <a:latin typeface="Arial"/>
              </a:rPr>
              <a:t>↓</a:t>
            </a:r>
          </a:p>
        </p:txBody>
      </p:sp>
      <p:sp>
        <p:nvSpPr>
          <p:cNvPr id="28" name="Rounded Rectangle 27"/>
          <p:cNvSpPr/>
          <p:nvPr/>
        </p:nvSpPr>
        <p:spPr>
          <a:xfrm>
            <a:off x="4078223" y="1993392"/>
            <a:ext cx="4023360" cy="347472"/>
          </a:xfrm>
          <a:prstGeom prst="roundRect">
            <a:avLst>
              <a:gd name="adj" fmla="val 4255"/>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78223" y="1993392"/>
            <a:ext cx="4023360" cy="347472"/>
          </a:xfrm>
          <a:prstGeom prst="rect">
            <a:avLst/>
          </a:prstGeom>
          <a:noFill/>
        </p:spPr>
        <p:txBody>
          <a:bodyPr wrap="square" anchor="ctr"/>
          <a:lstStyle/>
          <a:p>
            <a:pPr algn="ctr">
              <a:spcBef>
                <a:spcPts val="0"/>
              </a:spcBef>
              <a:spcAft>
                <a:spcPts val="0"/>
              </a:spcAft>
            </a:pPr>
            <a:r>
              <a:rPr sz="1100" b="1" i="0">
                <a:solidFill>
                  <a:srgbClr val="FFFFFF"/>
                </a:solidFill>
                <a:latin typeface="Calibri"/>
              </a:rPr>
              <a:t>Frontend / Interface</a:t>
            </a:r>
          </a:p>
        </p:txBody>
      </p:sp>
      <p:sp>
        <p:nvSpPr>
          <p:cNvPr id="30" name="TextBox 29"/>
          <p:cNvSpPr txBox="1"/>
          <p:nvPr/>
        </p:nvSpPr>
        <p:spPr>
          <a:xfrm>
            <a:off x="4078223" y="2340864"/>
            <a:ext cx="4023360" cy="164592"/>
          </a:xfrm>
          <a:prstGeom prst="rect">
            <a:avLst/>
          </a:prstGeom>
          <a:noFill/>
        </p:spPr>
        <p:txBody>
          <a:bodyPr wrap="square" anchor="ctr"/>
          <a:lstStyle/>
          <a:p>
            <a:pPr algn="ctr">
              <a:spcBef>
                <a:spcPts val="0"/>
              </a:spcBef>
              <a:spcAft>
                <a:spcPts val="0"/>
              </a:spcAft>
            </a:pPr>
            <a:r>
              <a:rPr sz="1400" b="1" i="0">
                <a:solidFill>
                  <a:srgbClr val="1C7293"/>
                </a:solidFill>
                <a:latin typeface="Arial"/>
              </a:rPr>
              <a:t>↓</a:t>
            </a:r>
          </a:p>
        </p:txBody>
      </p:sp>
      <p:sp>
        <p:nvSpPr>
          <p:cNvPr id="31" name="Rounded Rectangle 30"/>
          <p:cNvSpPr/>
          <p:nvPr/>
        </p:nvSpPr>
        <p:spPr>
          <a:xfrm>
            <a:off x="4078223" y="2505456"/>
            <a:ext cx="4023360" cy="347472"/>
          </a:xfrm>
          <a:prstGeom prst="roundRect">
            <a:avLst>
              <a:gd name="adj" fmla="val 4255"/>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078223" y="2505456"/>
            <a:ext cx="4023360" cy="347472"/>
          </a:xfrm>
          <a:prstGeom prst="rect">
            <a:avLst/>
          </a:prstGeom>
          <a:noFill/>
        </p:spPr>
        <p:txBody>
          <a:bodyPr wrap="square" anchor="ctr"/>
          <a:lstStyle/>
          <a:p>
            <a:pPr algn="ctr">
              <a:spcBef>
                <a:spcPts val="0"/>
              </a:spcBef>
              <a:spcAft>
                <a:spcPts val="0"/>
              </a:spcAft>
            </a:pPr>
            <a:r>
              <a:rPr sz="1100" b="1" i="0">
                <a:solidFill>
                  <a:srgbClr val="FFFFFF"/>
                </a:solidFill>
                <a:latin typeface="Calibri"/>
              </a:rPr>
              <a:t>Backend API</a:t>
            </a:r>
          </a:p>
        </p:txBody>
      </p:sp>
      <p:sp>
        <p:nvSpPr>
          <p:cNvPr id="33" name="TextBox 32"/>
          <p:cNvSpPr txBox="1"/>
          <p:nvPr/>
        </p:nvSpPr>
        <p:spPr>
          <a:xfrm>
            <a:off x="4078223" y="2852928"/>
            <a:ext cx="4023360" cy="164592"/>
          </a:xfrm>
          <a:prstGeom prst="rect">
            <a:avLst/>
          </a:prstGeom>
          <a:noFill/>
        </p:spPr>
        <p:txBody>
          <a:bodyPr wrap="square" anchor="ctr"/>
          <a:lstStyle/>
          <a:p>
            <a:pPr algn="ctr">
              <a:spcBef>
                <a:spcPts val="0"/>
              </a:spcBef>
              <a:spcAft>
                <a:spcPts val="0"/>
              </a:spcAft>
            </a:pPr>
            <a:r>
              <a:rPr sz="1400" b="1" i="0">
                <a:solidFill>
                  <a:srgbClr val="1C7293"/>
                </a:solidFill>
                <a:latin typeface="Arial"/>
              </a:rPr>
              <a:t>↓</a:t>
            </a:r>
          </a:p>
        </p:txBody>
      </p:sp>
      <p:sp>
        <p:nvSpPr>
          <p:cNvPr id="34" name="Rounded Rectangle 33"/>
          <p:cNvSpPr/>
          <p:nvPr/>
        </p:nvSpPr>
        <p:spPr>
          <a:xfrm>
            <a:off x="4078223" y="3017520"/>
            <a:ext cx="4023360" cy="347472"/>
          </a:xfrm>
          <a:prstGeom prst="roundRect">
            <a:avLst>
              <a:gd name="adj" fmla="val 4255"/>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78223" y="3017520"/>
            <a:ext cx="4023360" cy="347472"/>
          </a:xfrm>
          <a:prstGeom prst="rect">
            <a:avLst/>
          </a:prstGeom>
          <a:noFill/>
        </p:spPr>
        <p:txBody>
          <a:bodyPr wrap="square" anchor="ctr"/>
          <a:lstStyle/>
          <a:p>
            <a:pPr algn="ctr">
              <a:spcBef>
                <a:spcPts val="0"/>
              </a:spcBef>
              <a:spcAft>
                <a:spcPts val="0"/>
              </a:spcAft>
            </a:pPr>
            <a:r>
              <a:rPr sz="1100" b="1" i="0">
                <a:solidFill>
                  <a:srgbClr val="FFFFFF"/>
                </a:solidFill>
                <a:latin typeface="Calibri"/>
              </a:rPr>
              <a:t>AI Processing Pipeline</a:t>
            </a:r>
          </a:p>
        </p:txBody>
      </p:sp>
      <p:sp>
        <p:nvSpPr>
          <p:cNvPr id="36" name="TextBox 35"/>
          <p:cNvSpPr txBox="1"/>
          <p:nvPr/>
        </p:nvSpPr>
        <p:spPr>
          <a:xfrm>
            <a:off x="4078223" y="3364992"/>
            <a:ext cx="4023360" cy="164592"/>
          </a:xfrm>
          <a:prstGeom prst="rect">
            <a:avLst/>
          </a:prstGeom>
          <a:noFill/>
        </p:spPr>
        <p:txBody>
          <a:bodyPr wrap="square" anchor="ctr"/>
          <a:lstStyle/>
          <a:p>
            <a:pPr algn="ctr">
              <a:spcBef>
                <a:spcPts val="0"/>
              </a:spcBef>
              <a:spcAft>
                <a:spcPts val="0"/>
              </a:spcAft>
            </a:pPr>
            <a:r>
              <a:rPr sz="1400" b="1" i="0">
                <a:solidFill>
                  <a:srgbClr val="1C7293"/>
                </a:solidFill>
                <a:latin typeface="Arial"/>
              </a:rPr>
              <a:t>↓</a:t>
            </a:r>
          </a:p>
        </p:txBody>
      </p:sp>
      <p:sp>
        <p:nvSpPr>
          <p:cNvPr id="37" name="Rounded Rectangle 36"/>
          <p:cNvSpPr/>
          <p:nvPr/>
        </p:nvSpPr>
        <p:spPr>
          <a:xfrm>
            <a:off x="4078223" y="3529584"/>
            <a:ext cx="1938528" cy="365760"/>
          </a:xfrm>
          <a:prstGeom prst="roundRect">
            <a:avLst>
              <a:gd name="adj" fmla="val 4255"/>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078223" y="3529584"/>
            <a:ext cx="1938528" cy="365760"/>
          </a:xfrm>
          <a:prstGeom prst="rect">
            <a:avLst/>
          </a:prstGeom>
          <a:noFill/>
        </p:spPr>
        <p:txBody>
          <a:bodyPr wrap="square" anchor="ctr"/>
          <a:lstStyle/>
          <a:p>
            <a:pPr algn="ctr">
              <a:spcBef>
                <a:spcPts val="0"/>
              </a:spcBef>
              <a:spcAft>
                <a:spcPts val="0"/>
              </a:spcAft>
            </a:pPr>
            <a:r>
              <a:rPr sz="1100" b="1" i="0">
                <a:solidFill>
                  <a:srgbClr val="FFFFFF"/>
                </a:solidFill>
                <a:latin typeface="Calibri"/>
              </a:rPr>
              <a:t>Vision Models</a:t>
            </a:r>
          </a:p>
        </p:txBody>
      </p:sp>
      <p:sp>
        <p:nvSpPr>
          <p:cNvPr id="39" name="Rounded Rectangle 38"/>
          <p:cNvSpPr/>
          <p:nvPr/>
        </p:nvSpPr>
        <p:spPr>
          <a:xfrm>
            <a:off x="6163055" y="3529584"/>
            <a:ext cx="1938528" cy="365760"/>
          </a:xfrm>
          <a:prstGeom prst="roundRect">
            <a:avLst>
              <a:gd name="adj" fmla="val 4255"/>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163055" y="3529584"/>
            <a:ext cx="1938528" cy="365760"/>
          </a:xfrm>
          <a:prstGeom prst="rect">
            <a:avLst/>
          </a:prstGeom>
          <a:noFill/>
        </p:spPr>
        <p:txBody>
          <a:bodyPr wrap="square" anchor="ctr"/>
          <a:lstStyle/>
          <a:p>
            <a:pPr algn="ctr">
              <a:spcBef>
                <a:spcPts val="0"/>
              </a:spcBef>
              <a:spcAft>
                <a:spcPts val="0"/>
              </a:spcAft>
            </a:pPr>
            <a:r>
              <a:rPr sz="1100" b="1" i="0">
                <a:solidFill>
                  <a:srgbClr val="FFFFFF"/>
                </a:solidFill>
                <a:latin typeface="Calibri"/>
              </a:rPr>
              <a:t>VLM / Reporting</a:t>
            </a:r>
          </a:p>
        </p:txBody>
      </p:sp>
      <p:sp>
        <p:nvSpPr>
          <p:cNvPr id="41" name="TextBox 40"/>
          <p:cNvSpPr txBox="1"/>
          <p:nvPr/>
        </p:nvSpPr>
        <p:spPr>
          <a:xfrm>
            <a:off x="4078223" y="3895344"/>
            <a:ext cx="4023360" cy="164592"/>
          </a:xfrm>
          <a:prstGeom prst="rect">
            <a:avLst/>
          </a:prstGeom>
          <a:noFill/>
        </p:spPr>
        <p:txBody>
          <a:bodyPr wrap="square" anchor="ctr"/>
          <a:lstStyle/>
          <a:p>
            <a:pPr algn="ctr">
              <a:spcBef>
                <a:spcPts val="0"/>
              </a:spcBef>
              <a:spcAft>
                <a:spcPts val="0"/>
              </a:spcAft>
            </a:pPr>
            <a:r>
              <a:rPr sz="1400" b="1" i="0">
                <a:solidFill>
                  <a:srgbClr val="1C7293"/>
                </a:solidFill>
                <a:latin typeface="Arial"/>
              </a:rPr>
              <a:t>↓</a:t>
            </a:r>
          </a:p>
        </p:txBody>
      </p:sp>
      <p:sp>
        <p:nvSpPr>
          <p:cNvPr id="42" name="Rounded Rectangle 41"/>
          <p:cNvSpPr/>
          <p:nvPr/>
        </p:nvSpPr>
        <p:spPr>
          <a:xfrm>
            <a:off x="4078223" y="4059936"/>
            <a:ext cx="4023360" cy="347472"/>
          </a:xfrm>
          <a:prstGeom prst="roundRect">
            <a:avLst>
              <a:gd name="adj" fmla="val 4255"/>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78223" y="4059936"/>
            <a:ext cx="4023360" cy="347472"/>
          </a:xfrm>
          <a:prstGeom prst="rect">
            <a:avLst/>
          </a:prstGeom>
          <a:noFill/>
        </p:spPr>
        <p:txBody>
          <a:bodyPr wrap="square" anchor="ctr"/>
          <a:lstStyle/>
          <a:p>
            <a:pPr algn="ctr">
              <a:spcBef>
                <a:spcPts val="0"/>
              </a:spcBef>
              <a:spcAft>
                <a:spcPts val="0"/>
              </a:spcAft>
            </a:pPr>
            <a:r>
              <a:rPr sz="1100" b="1" i="0">
                <a:solidFill>
                  <a:srgbClr val="FFFFFF"/>
                </a:solidFill>
                <a:latin typeface="Calibri"/>
              </a:rPr>
              <a:t>Database / Patient History</a:t>
            </a:r>
          </a:p>
        </p:txBody>
      </p:sp>
      <p:sp>
        <p:nvSpPr>
          <p:cNvPr id="44" name="TextBox 43"/>
          <p:cNvSpPr txBox="1"/>
          <p:nvPr/>
        </p:nvSpPr>
        <p:spPr>
          <a:xfrm>
            <a:off x="4078223" y="4407408"/>
            <a:ext cx="4023360" cy="164592"/>
          </a:xfrm>
          <a:prstGeom prst="rect">
            <a:avLst/>
          </a:prstGeom>
          <a:noFill/>
        </p:spPr>
        <p:txBody>
          <a:bodyPr wrap="square" anchor="ctr"/>
          <a:lstStyle/>
          <a:p>
            <a:pPr algn="ctr">
              <a:spcBef>
                <a:spcPts val="0"/>
              </a:spcBef>
              <a:spcAft>
                <a:spcPts val="0"/>
              </a:spcAft>
            </a:pPr>
            <a:r>
              <a:rPr sz="1400" b="1" i="0">
                <a:solidFill>
                  <a:srgbClr val="1C7293"/>
                </a:solidFill>
                <a:latin typeface="Arial"/>
              </a:rPr>
              <a:t>↓</a:t>
            </a:r>
          </a:p>
        </p:txBody>
      </p:sp>
      <p:sp>
        <p:nvSpPr>
          <p:cNvPr id="45" name="Rounded Rectangle 44"/>
          <p:cNvSpPr/>
          <p:nvPr/>
        </p:nvSpPr>
        <p:spPr>
          <a:xfrm>
            <a:off x="4078223" y="4572000"/>
            <a:ext cx="4023360" cy="347472"/>
          </a:xfrm>
          <a:prstGeom prst="roundRect">
            <a:avLst>
              <a:gd name="adj" fmla="val 4255"/>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078223" y="4572000"/>
            <a:ext cx="4023360" cy="347472"/>
          </a:xfrm>
          <a:prstGeom prst="rect">
            <a:avLst/>
          </a:prstGeom>
          <a:noFill/>
        </p:spPr>
        <p:txBody>
          <a:bodyPr wrap="square" anchor="ctr"/>
          <a:lstStyle/>
          <a:p>
            <a:pPr algn="ctr">
              <a:spcBef>
                <a:spcPts val="0"/>
              </a:spcBef>
              <a:spcAft>
                <a:spcPts val="0"/>
              </a:spcAft>
            </a:pPr>
            <a:r>
              <a:rPr sz="1100" b="1" i="0">
                <a:solidFill>
                  <a:srgbClr val="FFFFFF"/>
                </a:solidFill>
                <a:latin typeface="Calibri"/>
              </a:rPr>
              <a:t>Results &amp; Longitudinal Monitoring</a:t>
            </a:r>
          </a:p>
        </p:txBody>
      </p:sp>
      <p:sp>
        <p:nvSpPr>
          <p:cNvPr id="47" name="Rounded Rectangle 46"/>
          <p:cNvSpPr/>
          <p:nvPr/>
        </p:nvSpPr>
        <p:spPr>
          <a:xfrm>
            <a:off x="8558784" y="1024128"/>
            <a:ext cx="3218688" cy="2176272"/>
          </a:xfrm>
          <a:prstGeom prst="roundRect">
            <a:avLst>
              <a:gd name="adj" fmla="val 4255"/>
            </a:avLst>
          </a:prstGeom>
          <a:solidFill>
            <a:srgbClr val="F4F8FA"/>
          </a:solidFill>
          <a:ln w="12700">
            <a:solidFill>
              <a:srgbClr val="DC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686800" y="1133856"/>
            <a:ext cx="292608" cy="29260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86800" y="1133856"/>
            <a:ext cx="292608" cy="292608"/>
          </a:xfrm>
          <a:prstGeom prst="rect">
            <a:avLst/>
          </a:prstGeom>
          <a:noFill/>
        </p:spPr>
        <p:txBody>
          <a:bodyPr wrap="square" anchor="ctr"/>
          <a:lstStyle/>
          <a:p>
            <a:pPr algn="ctr">
              <a:spcBef>
                <a:spcPts val="0"/>
              </a:spcBef>
              <a:spcAft>
                <a:spcPts val="0"/>
              </a:spcAft>
            </a:pPr>
            <a:r>
              <a:rPr sz="1100" b="1" i="0">
                <a:solidFill>
                  <a:srgbClr val="FFFFFF"/>
                </a:solidFill>
                <a:latin typeface="Arial"/>
              </a:rPr>
              <a:t>5</a:t>
            </a:r>
          </a:p>
        </p:txBody>
      </p:sp>
      <p:sp>
        <p:nvSpPr>
          <p:cNvPr id="50" name="TextBox 49"/>
          <p:cNvSpPr txBox="1"/>
          <p:nvPr/>
        </p:nvSpPr>
        <p:spPr>
          <a:xfrm>
            <a:off x="9034272" y="1115568"/>
            <a:ext cx="2615184" cy="329184"/>
          </a:xfrm>
          <a:prstGeom prst="rect">
            <a:avLst/>
          </a:prstGeom>
          <a:noFill/>
        </p:spPr>
        <p:txBody>
          <a:bodyPr wrap="square" anchor="ctr"/>
          <a:lstStyle/>
          <a:p>
            <a:pPr algn="l">
              <a:spcBef>
                <a:spcPts val="0"/>
              </a:spcBef>
              <a:spcAft>
                <a:spcPts val="0"/>
              </a:spcAft>
            </a:pPr>
            <a:r>
              <a:rPr sz="1200" b="1" i="0">
                <a:solidFill>
                  <a:srgbClr val="1A2733"/>
                </a:solidFill>
                <a:latin typeface="Calibri"/>
              </a:rPr>
              <a:t>SE Practices</a:t>
            </a:r>
          </a:p>
        </p:txBody>
      </p:sp>
      <p:sp>
        <p:nvSpPr>
          <p:cNvPr id="51" name="TextBox 50"/>
          <p:cNvSpPr txBox="1"/>
          <p:nvPr/>
        </p:nvSpPr>
        <p:spPr>
          <a:xfrm>
            <a:off x="8705088" y="1426464"/>
            <a:ext cx="2926080" cy="1700784"/>
          </a:xfrm>
          <a:prstGeom prst="rect">
            <a:avLst/>
          </a:prstGeom>
          <a:noFill/>
        </p:spPr>
        <p:txBody>
          <a:bodyPr wrap="square" anchor="t">
            <a:spAutoFit/>
          </a:bodyPr>
          <a:lstStyle/>
          <a:p>
            <a:pPr algn="l">
              <a:spcBef>
                <a:spcPts val="0"/>
              </a:spcBef>
              <a:spcAft>
                <a:spcPts val="200"/>
              </a:spcAft>
            </a:pPr>
            <a:r>
              <a:rPr sz="1100" b="0" i="0">
                <a:solidFill>
                  <a:srgbClr val="5B7A8C"/>
                </a:solidFill>
                <a:latin typeface="Calibri"/>
              </a:rPr>
              <a:t>•  Modular architecture</a:t>
            </a:r>
          </a:p>
          <a:p>
            <a:pPr algn="l">
              <a:spcBef>
                <a:spcPts val="0"/>
              </a:spcBef>
              <a:spcAft>
                <a:spcPts val="200"/>
              </a:spcAft>
            </a:pPr>
            <a:r>
              <a:rPr sz="1100" b="0" i="0">
                <a:solidFill>
                  <a:srgbClr val="5B7A8C"/>
                </a:solidFill>
                <a:latin typeface="Calibri"/>
              </a:rPr>
              <a:t>•  Version control &amp; testing</a:t>
            </a:r>
          </a:p>
          <a:p>
            <a:pPr algn="l">
              <a:spcBef>
                <a:spcPts val="0"/>
              </a:spcBef>
              <a:spcAft>
                <a:spcPts val="200"/>
              </a:spcAft>
            </a:pPr>
            <a:r>
              <a:rPr sz="1100" b="0" i="0">
                <a:solidFill>
                  <a:srgbClr val="5B7A8C"/>
                </a:solidFill>
                <a:latin typeface="Calibri"/>
              </a:rPr>
              <a:t>•  API design &amp; error handling</a:t>
            </a:r>
          </a:p>
          <a:p>
            <a:pPr algn="l">
              <a:spcBef>
                <a:spcPts val="0"/>
              </a:spcBef>
              <a:spcAft>
                <a:spcPts val="200"/>
              </a:spcAft>
            </a:pPr>
            <a:r>
              <a:rPr sz="1100" b="0" i="0">
                <a:solidFill>
                  <a:srgbClr val="5B7A8C"/>
                </a:solidFill>
                <a:latin typeface="Calibri"/>
              </a:rPr>
              <a:t>•  Logging &amp; reproducibility</a:t>
            </a:r>
          </a:p>
          <a:p>
            <a:pPr algn="l">
              <a:spcBef>
                <a:spcPts val="0"/>
              </a:spcBef>
              <a:spcAft>
                <a:spcPts val="200"/>
              </a:spcAft>
            </a:pPr>
            <a:r>
              <a:rPr sz="1100" b="0" i="0">
                <a:solidFill>
                  <a:srgbClr val="5B7A8C"/>
                </a:solidFill>
                <a:latin typeface="Calibri"/>
              </a:rPr>
              <a:t>•  Documentation</a:t>
            </a:r>
          </a:p>
        </p:txBody>
      </p:sp>
      <p:sp>
        <p:nvSpPr>
          <p:cNvPr id="52" name="Rounded Rectangle 51"/>
          <p:cNvSpPr/>
          <p:nvPr/>
        </p:nvSpPr>
        <p:spPr>
          <a:xfrm>
            <a:off x="8558784" y="3291840"/>
            <a:ext cx="3218688" cy="2267712"/>
          </a:xfrm>
          <a:prstGeom prst="roundRect">
            <a:avLst>
              <a:gd name="adj" fmla="val 4255"/>
            </a:avLst>
          </a:prstGeom>
          <a:solidFill>
            <a:srgbClr val="F4F8FA"/>
          </a:solidFill>
          <a:ln w="12700">
            <a:solidFill>
              <a:srgbClr val="DC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8686800" y="3401568"/>
            <a:ext cx="292608" cy="292608"/>
          </a:xfrm>
          <a:prstGeom prst="ellipse">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86800" y="3401568"/>
            <a:ext cx="292608" cy="292608"/>
          </a:xfrm>
          <a:prstGeom prst="rect">
            <a:avLst/>
          </a:prstGeom>
          <a:noFill/>
        </p:spPr>
        <p:txBody>
          <a:bodyPr wrap="square" anchor="ctr"/>
          <a:lstStyle/>
          <a:p>
            <a:pPr algn="ctr">
              <a:spcBef>
                <a:spcPts val="0"/>
              </a:spcBef>
              <a:spcAft>
                <a:spcPts val="0"/>
              </a:spcAft>
            </a:pPr>
            <a:r>
              <a:rPr sz="1100" b="1" i="0">
                <a:solidFill>
                  <a:srgbClr val="FFFFFF"/>
                </a:solidFill>
                <a:latin typeface="Arial"/>
              </a:rPr>
              <a:t>6</a:t>
            </a:r>
          </a:p>
        </p:txBody>
      </p:sp>
      <p:sp>
        <p:nvSpPr>
          <p:cNvPr id="55" name="TextBox 54"/>
          <p:cNvSpPr txBox="1"/>
          <p:nvPr/>
        </p:nvSpPr>
        <p:spPr>
          <a:xfrm>
            <a:off x="9034272" y="3383280"/>
            <a:ext cx="2615184" cy="329184"/>
          </a:xfrm>
          <a:prstGeom prst="rect">
            <a:avLst/>
          </a:prstGeom>
          <a:noFill/>
        </p:spPr>
        <p:txBody>
          <a:bodyPr wrap="square" anchor="ctr"/>
          <a:lstStyle/>
          <a:p>
            <a:pPr algn="l">
              <a:spcBef>
                <a:spcPts val="0"/>
              </a:spcBef>
              <a:spcAft>
                <a:spcPts val="0"/>
              </a:spcAft>
            </a:pPr>
            <a:r>
              <a:rPr sz="1200" b="1" i="0">
                <a:solidFill>
                  <a:srgbClr val="1A2733"/>
                </a:solidFill>
                <a:latin typeface="Calibri"/>
              </a:rPr>
              <a:t>System Considerations</a:t>
            </a:r>
          </a:p>
        </p:txBody>
      </p:sp>
      <p:sp>
        <p:nvSpPr>
          <p:cNvPr id="56" name="TextBox 55"/>
          <p:cNvSpPr txBox="1"/>
          <p:nvPr/>
        </p:nvSpPr>
        <p:spPr>
          <a:xfrm>
            <a:off x="8705088" y="3694176"/>
            <a:ext cx="2926080" cy="1792224"/>
          </a:xfrm>
          <a:prstGeom prst="rect">
            <a:avLst/>
          </a:prstGeom>
          <a:noFill/>
        </p:spPr>
        <p:txBody>
          <a:bodyPr wrap="square" anchor="t">
            <a:spAutoFit/>
          </a:bodyPr>
          <a:lstStyle/>
          <a:p>
            <a:pPr algn="l">
              <a:spcBef>
                <a:spcPts val="0"/>
              </a:spcBef>
              <a:spcAft>
                <a:spcPts val="200"/>
              </a:spcAft>
            </a:pPr>
            <a:r>
              <a:rPr sz="1100" b="0" i="0">
                <a:solidFill>
                  <a:srgbClr val="5B7A8C"/>
                </a:solidFill>
                <a:latin typeface="Calibri"/>
              </a:rPr>
              <a:t>•  Privacy of medical images</a:t>
            </a:r>
          </a:p>
          <a:p>
            <a:pPr algn="l">
              <a:spcBef>
                <a:spcPts val="0"/>
              </a:spcBef>
              <a:spcAft>
                <a:spcPts val="200"/>
              </a:spcAft>
            </a:pPr>
            <a:r>
              <a:rPr sz="1100" b="0" i="0">
                <a:solidFill>
                  <a:srgbClr val="5B7A8C"/>
                </a:solidFill>
                <a:latin typeface="Calibri"/>
              </a:rPr>
              <a:t>•  Secure data storage</a:t>
            </a:r>
          </a:p>
          <a:p>
            <a:pPr algn="l">
              <a:spcBef>
                <a:spcPts val="0"/>
              </a:spcBef>
              <a:spcAft>
                <a:spcPts val="200"/>
              </a:spcAft>
            </a:pPr>
            <a:r>
              <a:rPr sz="1100" b="0" i="0">
                <a:solidFill>
                  <a:srgbClr val="5B7A8C"/>
                </a:solidFill>
                <a:latin typeface="Calibri"/>
              </a:rPr>
              <a:t>•  Inference time &amp; reliability</a:t>
            </a:r>
          </a:p>
          <a:p>
            <a:pPr algn="l">
              <a:spcBef>
                <a:spcPts val="0"/>
              </a:spcBef>
              <a:spcAft>
                <a:spcPts val="200"/>
              </a:spcAft>
            </a:pPr>
            <a:r>
              <a:rPr sz="1100" b="0" i="0">
                <a:solidFill>
                  <a:srgbClr val="5B7A8C"/>
                </a:solidFill>
                <a:latin typeface="Calibri"/>
              </a:rPr>
              <a:t>•  Scalability of the prototype</a:t>
            </a:r>
          </a:p>
          <a:p>
            <a:pPr algn="l">
              <a:spcBef>
                <a:spcPts val="0"/>
              </a:spcBef>
              <a:spcAft>
                <a:spcPts val="200"/>
              </a:spcAft>
            </a:pPr>
            <a:r>
              <a:rPr sz="1100" b="0" i="0">
                <a:solidFill>
                  <a:srgbClr val="5B7A8C"/>
                </a:solidFill>
                <a:latin typeface="Calibri"/>
              </a:rPr>
              <a:t>•  Human-in-the-loop design</a:t>
            </a:r>
          </a:p>
        </p:txBody>
      </p:sp>
      <p:sp>
        <p:nvSpPr>
          <p:cNvPr id="57" name="Rounded Rectangle 56"/>
          <p:cNvSpPr/>
          <p:nvPr/>
        </p:nvSpPr>
        <p:spPr>
          <a:xfrm>
            <a:off x="384048" y="5669280"/>
            <a:ext cx="11393424" cy="731520"/>
          </a:xfrm>
          <a:prstGeom prst="roundRect">
            <a:avLst>
              <a:gd name="adj" fmla="val 4255"/>
            </a:avLst>
          </a:prstGeom>
          <a:solidFill>
            <a:srgbClr val="F4F8FA"/>
          </a:solidFill>
          <a:ln w="12700">
            <a:solidFill>
              <a:srgbClr val="DC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384048" y="5669280"/>
            <a:ext cx="73152" cy="731520"/>
          </a:xfrm>
          <a:prstGeom prst="roundRect">
            <a:avLst>
              <a:gd name="adj" fmla="val 0"/>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85216" y="5742432"/>
            <a:ext cx="11100816" cy="621792"/>
          </a:xfrm>
          <a:prstGeom prst="rect">
            <a:avLst/>
          </a:prstGeom>
          <a:noFill/>
        </p:spPr>
        <p:txBody>
          <a:bodyPr wrap="square" anchor="ctr">
            <a:spAutoFit/>
          </a:bodyPr>
          <a:lstStyle/>
          <a:p>
            <a:pPr algn="l">
              <a:spcBef>
                <a:spcPts val="0"/>
              </a:spcBef>
              <a:spcAft>
                <a:spcPts val="200"/>
              </a:spcAft>
            </a:pPr>
            <a:r>
              <a:rPr sz="1100" b="1" i="0">
                <a:solidFill>
                  <a:srgbClr val="065A82"/>
                </a:solidFill>
                <a:latin typeface="Calibri"/>
              </a:rPr>
              <a:t>Engineering Goal</a:t>
            </a:r>
          </a:p>
          <a:p>
            <a:pPr algn="l">
              <a:spcBef>
                <a:spcPts val="0"/>
              </a:spcBef>
              <a:spcAft>
                <a:spcPts val="200"/>
              </a:spcAft>
            </a:pPr>
            <a:r>
              <a:rPr sz="1200" b="0" i="0">
                <a:solidFill>
                  <a:srgbClr val="1A2733"/>
                </a:solidFill>
                <a:latin typeface="Calibri"/>
              </a:rPr>
              <a:t>Build a modular, testable and reproducible AI-assisted system rather than a standalone ML model.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457200" y="411480"/>
            <a:ext cx="457200" cy="45720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457200" cy="457200"/>
          </a:xfrm>
          <a:prstGeom prst="rect">
            <a:avLst/>
          </a:prstGeom>
          <a:noFill/>
        </p:spPr>
        <p:txBody>
          <a:bodyPr wrap="square" anchor="ctr"/>
          <a:lstStyle/>
          <a:p>
            <a:pPr algn="ctr">
              <a:spcBef>
                <a:spcPts val="0"/>
              </a:spcBef>
              <a:spcAft>
                <a:spcPts val="0"/>
              </a:spcAft>
            </a:pPr>
            <a:r>
              <a:rPr sz="2000" b="1" i="0">
                <a:solidFill>
                  <a:srgbClr val="FFFFFF"/>
                </a:solidFill>
                <a:latin typeface="Arial"/>
              </a:rPr>
              <a:t>R</a:t>
            </a:r>
          </a:p>
        </p:txBody>
      </p:sp>
      <p:sp>
        <p:nvSpPr>
          <p:cNvPr id="4" name="TextBox 3"/>
          <p:cNvSpPr txBox="1"/>
          <p:nvPr/>
        </p:nvSpPr>
        <p:spPr>
          <a:xfrm>
            <a:off x="1051560" y="347472"/>
            <a:ext cx="10241280" cy="594360"/>
          </a:xfrm>
          <a:prstGeom prst="rect">
            <a:avLst/>
          </a:prstGeom>
          <a:noFill/>
        </p:spPr>
        <p:txBody>
          <a:bodyPr wrap="square" anchor="ctr"/>
          <a:lstStyle/>
          <a:p>
            <a:pPr algn="l">
              <a:spcBef>
                <a:spcPts val="0"/>
              </a:spcBef>
              <a:spcAft>
                <a:spcPts val="0"/>
              </a:spcAft>
            </a:pPr>
            <a:r>
              <a:rPr sz="2800" b="1" i="0">
                <a:solidFill>
                  <a:srgbClr val="1A2733"/>
                </a:solidFill>
                <a:latin typeface="Cambria"/>
              </a:rPr>
              <a:t>References</a:t>
            </a:r>
          </a:p>
        </p:txBody>
      </p:sp>
      <p:sp>
        <p:nvSpPr>
          <p:cNvPr id="5" name="TextBox 4"/>
          <p:cNvSpPr txBox="1"/>
          <p:nvPr/>
        </p:nvSpPr>
        <p:spPr>
          <a:xfrm>
            <a:off x="457200" y="6510528"/>
            <a:ext cx="7315200" cy="274320"/>
          </a:xfrm>
          <a:prstGeom prst="rect">
            <a:avLst/>
          </a:prstGeom>
          <a:noFill/>
        </p:spPr>
        <p:txBody>
          <a:bodyPr wrap="square" anchor="t"/>
          <a:lstStyle/>
          <a:p>
            <a:pPr algn="l">
              <a:spcBef>
                <a:spcPts val="0"/>
              </a:spcBef>
              <a:spcAft>
                <a:spcPts val="0"/>
              </a:spcAft>
            </a:pPr>
            <a:r>
              <a:rPr sz="1000" b="0" i="0">
                <a:solidFill>
                  <a:srgbClr val="5B7A8C"/>
                </a:solidFill>
                <a:latin typeface="Calibri"/>
              </a:rPr>
              <a:t>GIKI FCSE  |  Title Defence</a:t>
            </a:r>
          </a:p>
        </p:txBody>
      </p:sp>
      <p:sp>
        <p:nvSpPr>
          <p:cNvPr id="6" name="Rounded Rectangle 5"/>
          <p:cNvSpPr/>
          <p:nvPr/>
        </p:nvSpPr>
        <p:spPr>
          <a:xfrm>
            <a:off x="457200" y="1097280"/>
            <a:ext cx="5532120" cy="5074920"/>
          </a:xfrm>
          <a:prstGeom prst="roundRect">
            <a:avLst>
              <a:gd name="adj" fmla="val 4255"/>
            </a:avLst>
          </a:prstGeom>
          <a:solidFill>
            <a:srgbClr val="F4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99632" y="1097280"/>
            <a:ext cx="5532120" cy="5074920"/>
          </a:xfrm>
          <a:prstGeom prst="roundRect">
            <a:avLst>
              <a:gd name="adj" fmla="val 4255"/>
            </a:avLst>
          </a:prstGeom>
          <a:solidFill>
            <a:srgbClr val="F4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261872"/>
            <a:ext cx="5120640" cy="4754880"/>
          </a:xfrm>
          <a:prstGeom prst="rect">
            <a:avLst/>
          </a:prstGeom>
          <a:noFill/>
        </p:spPr>
        <p:txBody>
          <a:bodyPr wrap="square" anchor="t">
            <a:spAutoFit/>
          </a:bodyPr>
          <a:lstStyle/>
          <a:p>
            <a:pPr algn="l">
              <a:spcBef>
                <a:spcPts val="0"/>
              </a:spcBef>
              <a:spcAft>
                <a:spcPts val="200"/>
              </a:spcAft>
            </a:pPr>
            <a:r>
              <a:rPr sz="1200" b="0" i="0">
                <a:solidFill>
                  <a:srgbClr val="1A2733"/>
                </a:solidFill>
                <a:latin typeface="Calibri"/>
              </a:rPr>
              <a:t>[1]  D. P. Yadav, A. Sharma, M. Singh, and A. Goyal, “Feature Extraction Based Machine Learning for Human Burn Diagnosis From Burn Images,” IEEE J. Transl. Eng. Health Med., vol. 7, 2019.  doi: 10.1109/JTEHM.2019.2923628</a:t>
            </a:r>
          </a:p>
          <a:p>
            <a:pPr algn="l">
              <a:spcBef>
                <a:spcPts val="0"/>
              </a:spcBef>
              <a:spcAft>
                <a:spcPts val="200"/>
              </a:spcAft>
            </a:pPr>
            <a:r>
              <a:rPr sz="600" b="0" i="0">
                <a:solidFill>
                  <a:srgbClr val="1A2733"/>
                </a:solidFill>
                <a:latin typeface="Calibri"/>
              </a:rPr>
              <a:t/>
            </a:r>
          </a:p>
          <a:p>
            <a:pPr algn="l">
              <a:spcBef>
                <a:spcPts val="0"/>
              </a:spcBef>
              <a:spcAft>
                <a:spcPts val="200"/>
              </a:spcAft>
            </a:pPr>
            <a:r>
              <a:rPr sz="1200" b="0" i="0">
                <a:solidFill>
                  <a:srgbClr val="1A2733"/>
                </a:solidFill>
                <a:latin typeface="Calibri"/>
              </a:rPr>
              <a:t>[2]  M. D. Cirillo, R. Mirdell, F. Sjöberg, and T. D. Pham, “Time-Independent Prediction of Burn Depth Using Deep Convolutional Neural Networks,” J. Burn Care Res., vol. 40, no. 6, pp. 857–863, 2019.  doi: 10.1093/jbcr/irz103</a:t>
            </a:r>
          </a:p>
          <a:p>
            <a:pPr algn="l">
              <a:spcBef>
                <a:spcPts val="0"/>
              </a:spcBef>
              <a:spcAft>
                <a:spcPts val="200"/>
              </a:spcAft>
            </a:pPr>
            <a:r>
              <a:rPr sz="600" b="0" i="0">
                <a:solidFill>
                  <a:srgbClr val="1A2733"/>
                </a:solidFill>
                <a:latin typeface="Calibri"/>
              </a:rPr>
              <a:t/>
            </a:r>
          </a:p>
          <a:p>
            <a:pPr algn="l">
              <a:spcBef>
                <a:spcPts val="0"/>
              </a:spcBef>
              <a:spcAft>
                <a:spcPts val="200"/>
              </a:spcAft>
            </a:pPr>
            <a:r>
              <a:rPr sz="1200" b="0" i="0">
                <a:solidFill>
                  <a:srgbClr val="1A2733"/>
                </a:solidFill>
                <a:latin typeface="Calibri"/>
              </a:rPr>
              <a:t>[3]  J. Chauhan and P. Goyal, “BPBSAM: Body part-specific burn severity assessment model,” Burns, vol. 46, no. 6, pp. 1407–1423, 2020.  doi: 10.1016/j.burns.2020.03.007</a:t>
            </a:r>
          </a:p>
          <a:p>
            <a:pPr algn="l">
              <a:spcBef>
                <a:spcPts val="0"/>
              </a:spcBef>
              <a:spcAft>
                <a:spcPts val="200"/>
              </a:spcAft>
            </a:pPr>
            <a:r>
              <a:rPr sz="600" b="0" i="0">
                <a:solidFill>
                  <a:srgbClr val="1A2733"/>
                </a:solidFill>
                <a:latin typeface="Calibri"/>
              </a:rPr>
              <a:t/>
            </a:r>
          </a:p>
        </p:txBody>
      </p:sp>
      <p:sp>
        <p:nvSpPr>
          <p:cNvPr id="9" name="TextBox 8"/>
          <p:cNvSpPr txBox="1"/>
          <p:nvPr/>
        </p:nvSpPr>
        <p:spPr>
          <a:xfrm>
            <a:off x="6400800" y="1261872"/>
            <a:ext cx="5120640" cy="4754880"/>
          </a:xfrm>
          <a:prstGeom prst="rect">
            <a:avLst/>
          </a:prstGeom>
          <a:noFill/>
        </p:spPr>
        <p:txBody>
          <a:bodyPr wrap="square" anchor="t">
            <a:spAutoFit/>
          </a:bodyPr>
          <a:lstStyle/>
          <a:p>
            <a:pPr algn="l">
              <a:spcBef>
                <a:spcPts val="0"/>
              </a:spcBef>
              <a:spcAft>
                <a:spcPts val="200"/>
              </a:spcAft>
            </a:pPr>
            <a:r>
              <a:rPr sz="1200" b="0" i="0">
                <a:solidFill>
                  <a:srgbClr val="1A2733"/>
                </a:solidFill>
                <a:latin typeface="Calibri"/>
              </a:rPr>
              <a:t>[4]  H. Liu, K. Yue, S. Cheng, W. Li, and Z. Fu, “A Framework for Automatic Burn Image Segmentation and Burn Depth Diagnosis Using Deep Learning,” Comput. Math. Methods Med., vol. 2021, Art. 5514224, 2021.  doi: 10.1155/2021/5514224</a:t>
            </a:r>
          </a:p>
          <a:p>
            <a:pPr algn="l">
              <a:spcBef>
                <a:spcPts val="0"/>
              </a:spcBef>
              <a:spcAft>
                <a:spcPts val="200"/>
              </a:spcAft>
            </a:pPr>
            <a:r>
              <a:rPr sz="600" b="0" i="0">
                <a:solidFill>
                  <a:srgbClr val="1A2733"/>
                </a:solidFill>
                <a:latin typeface="Calibri"/>
              </a:rPr>
              <a:t/>
            </a:r>
          </a:p>
          <a:p>
            <a:pPr algn="l">
              <a:spcBef>
                <a:spcPts val="0"/>
              </a:spcBef>
              <a:spcAft>
                <a:spcPts val="200"/>
              </a:spcAft>
            </a:pPr>
            <a:r>
              <a:rPr sz="1200" b="0" i="0">
                <a:solidFill>
                  <a:srgbClr val="1A2733"/>
                </a:solidFill>
                <a:latin typeface="Calibri"/>
              </a:rPr>
              <a:t>[5]  C. Boissin et al., “Development and evaluation of deep learning algorithms for assessment of acute burns and the need for surgery,” Sci. Rep., vol. 13, Art. 1794, 2023.  doi: 10.1038/s41598-023-28164-4</a:t>
            </a:r>
          </a:p>
          <a:p>
            <a:pPr algn="l">
              <a:spcBef>
                <a:spcPts val="0"/>
              </a:spcBef>
              <a:spcAft>
                <a:spcPts val="200"/>
              </a:spcAft>
            </a:pPr>
            <a:r>
              <a:rPr sz="600" b="0" i="0">
                <a:solidFill>
                  <a:srgbClr val="1A2733"/>
                </a:solidFill>
                <a:latin typeface="Calibri"/>
              </a:rPr>
              <a:t/>
            </a:r>
          </a:p>
          <a:p>
            <a:pPr algn="l">
              <a:spcBef>
                <a:spcPts val="0"/>
              </a:spcBef>
              <a:spcAft>
                <a:spcPts val="200"/>
              </a:spcAft>
            </a:pPr>
            <a:r>
              <a:rPr sz="1200" b="0" i="0">
                <a:solidFill>
                  <a:srgbClr val="1A2733"/>
                </a:solidFill>
                <a:latin typeface="Calibri"/>
              </a:rPr>
              <a:t>[6]  O. Ethier et al., “Using Computer Vision and Artificial Intelligence to Track the Healing of Severe Burns,” J. Burn Care Res., vol. 45, no. 3, 2024.  doi: 10.1093/jbcr/irad197</a:t>
            </a:r>
          </a:p>
          <a:p>
            <a:pPr algn="l">
              <a:spcBef>
                <a:spcPts val="0"/>
              </a:spcBef>
              <a:spcAft>
                <a:spcPts val="200"/>
              </a:spcAft>
            </a:pPr>
            <a:r>
              <a:rPr sz="600" b="0" i="0">
                <a:solidFill>
                  <a:srgbClr val="1A2733"/>
                </a:solidFill>
                <a:latin typeface="Calibri"/>
              </a:rP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2026-09-20T10:55:25Z</dcterms:created>
  <dcterms:modified xsi:type="dcterms:W3CDTF">2026-09-20T10:55:25Z</dcterms:modified>
</cp:coreProperties>
</file>